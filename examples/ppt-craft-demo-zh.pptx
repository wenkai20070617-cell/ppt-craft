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9b16351af4b99" /><Relationship Type="http://schemas.openxmlformats.org/officeDocument/2006/relationships/extended-properties" Target="/docProps/app.xml" Id="R7a3761789979454d" /><Relationship Type="http://schemas.openxmlformats.org/officeDocument/2006/relationships/officeDocument" Target="/ppt/presentation.xml" Id="R4959664eef3241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8dee875efc448c"/>
  </p:sldMasterIdLst>
  <p:notesMasterIdLst>
    <p:notesMasterId xmlns:r="http://schemas.openxmlformats.org/officeDocument/2006/relationships" r:id="R7de781b663ef4bf2"/>
  </p:notesMasterIdLst>
  <p:sldIdLst>
    <p:sldId xmlns:r="http://schemas.openxmlformats.org/officeDocument/2006/relationships" id="256" r:id="R3014441ce6a44e5f"/>
    <p:sldId xmlns:r="http://schemas.openxmlformats.org/officeDocument/2006/relationships" id="257" r:id="Ra1b3a12d81724676"/>
    <p:sldId xmlns:r="http://schemas.openxmlformats.org/officeDocument/2006/relationships" id="258" r:id="R2104655524614131"/>
    <p:sldId xmlns:r="http://schemas.openxmlformats.org/officeDocument/2006/relationships" id="259" r:id="R7cb316d55d1d4915"/>
    <p:sldId xmlns:r="http://schemas.openxmlformats.org/officeDocument/2006/relationships" id="260" r:id="R11b1fd8b81564445"/>
    <p:sldId xmlns:r="http://schemas.openxmlformats.org/officeDocument/2006/relationships" id="261" r:id="R15e763c657ab42b3"/>
    <p:sldId xmlns:r="http://schemas.openxmlformats.org/officeDocument/2006/relationships" id="262" r:id="R3a294037068c454c"/>
    <p:sldId xmlns:r="http://schemas.openxmlformats.org/officeDocument/2006/relationships" id="263" r:id="Rcb3a9ae09fbd4afe"/>
    <p:sldId xmlns:r="http://schemas.openxmlformats.org/officeDocument/2006/relationships" id="264" r:id="Rae9b5844af66435e"/>
    <p:sldId xmlns:r="http://schemas.openxmlformats.org/officeDocument/2006/relationships" id="265" r:id="R1e9e5d4efbf046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c3deb52c24ba7" /><Relationship Type="http://schemas.openxmlformats.org/officeDocument/2006/relationships/slideMaster" Target="/ppt/slideMasters/slideMaster1.xml" Id="R398dee875efc448c" /><Relationship Type="http://schemas.openxmlformats.org/officeDocument/2006/relationships/notesMaster" Target="/ppt/notesMasters/notesMaster1.xml" Id="R7de781b663ef4bf2" /><Relationship Type="http://schemas.openxmlformats.org/officeDocument/2006/relationships/presProps" Target="/ppt/presProps.xml" Id="R76ecaa8a055a439b" /><Relationship Type="http://schemas.openxmlformats.org/officeDocument/2006/relationships/tableStyles" Target="/ppt/tableStyles.xml" Id="R14818415ca664adf" /><Relationship Type="http://schemas.openxmlformats.org/officeDocument/2006/relationships/slide" Target="/ppt/slides/slide1.xml" Id="R3014441ce6a44e5f" /><Relationship Type="http://schemas.openxmlformats.org/officeDocument/2006/relationships/slide" Target="/ppt/slides/slide2.xml" Id="Ra1b3a12d81724676" /><Relationship Type="http://schemas.openxmlformats.org/officeDocument/2006/relationships/slide" Target="/ppt/slides/slide3.xml" Id="R2104655524614131" /><Relationship Type="http://schemas.openxmlformats.org/officeDocument/2006/relationships/slide" Target="/ppt/slides/slide4.xml" Id="R7cb316d55d1d4915" /><Relationship Type="http://schemas.openxmlformats.org/officeDocument/2006/relationships/slide" Target="/ppt/slides/slide5.xml" Id="R11b1fd8b81564445" /><Relationship Type="http://schemas.openxmlformats.org/officeDocument/2006/relationships/slide" Target="/ppt/slides/slide6.xml" Id="R15e763c657ab42b3" /><Relationship Type="http://schemas.openxmlformats.org/officeDocument/2006/relationships/slide" Target="/ppt/slides/slide7.xml" Id="R3a294037068c454c" /><Relationship Type="http://schemas.openxmlformats.org/officeDocument/2006/relationships/slide" Target="/ppt/slides/slide8.xml" Id="Rcb3a9ae09fbd4afe" /><Relationship Type="http://schemas.openxmlformats.org/officeDocument/2006/relationships/slide" Target="/ppt/slides/slide9.xml" Id="Rae9b5844af66435e" /><Relationship Type="http://schemas.openxmlformats.org/officeDocument/2006/relationships/slide" Target="/ppt/slides/slide10.xml" Id="R1e9e5d4efbf046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4df23eb69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75d82cf884d02" /><Relationship Type="http://schemas.openxmlformats.org/officeDocument/2006/relationships/notesMaster" Target="/ppt/notesMasters/notesMaster1.xml" Id="Rc5b64ab497544f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112eecbdb14233" /><Relationship Type="http://schemas.openxmlformats.org/officeDocument/2006/relationships/notesMaster" Target="/ppt/notesMasters/notesMaster1.xml" Id="Rf8240efc30b741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172f2f2a634377" /><Relationship Type="http://schemas.openxmlformats.org/officeDocument/2006/relationships/notesMaster" Target="/ppt/notesMasters/notesMaster1.xml" Id="R1d43d144a5734d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17f9c78ff04b8c" /><Relationship Type="http://schemas.openxmlformats.org/officeDocument/2006/relationships/notesMaster" Target="/ppt/notesMasters/notesMaster1.xml" Id="R26c8e5b49a8d4a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5607056fd242a4" /><Relationship Type="http://schemas.openxmlformats.org/officeDocument/2006/relationships/notesMaster" Target="/ppt/notesMasters/notesMaster1.xml" Id="R84234461a5b640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e6b5c1828347a6" /><Relationship Type="http://schemas.openxmlformats.org/officeDocument/2006/relationships/notesMaster" Target="/ppt/notesMasters/notesMaster1.xml" Id="Rb3d88ac5f6dd47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0568e92d254547" /><Relationship Type="http://schemas.openxmlformats.org/officeDocument/2006/relationships/notesMaster" Target="/ppt/notesMasters/notesMaster1.xml" Id="Re8468efbcd5345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3595d39b614077" /><Relationship Type="http://schemas.openxmlformats.org/officeDocument/2006/relationships/notesMaster" Target="/ppt/notesMasters/notesMaster1.xml" Id="R60190ef1428347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f08749e1a44f6f" /><Relationship Type="http://schemas.openxmlformats.org/officeDocument/2006/relationships/notesMaster" Target="/ppt/notesMasters/notesMaster1.xml" Id="R0f9b24e46c4e43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078bc6083541e4" /><Relationship Type="http://schemas.openxmlformats.org/officeDocument/2006/relationships/notesMaster" Target="/ppt/notesMasters/notesMaster1.xml" Id="R8348e2bb1b9146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这是一份使用 PPT Craft 工作流制作的中文示例。</a:t>
            </a:r>
          </a:p>
          <a:p xmlns:a="http://schemas.openxmlformats.org/drawingml/2006/main">
            <a:r>
              <a:t>本示例用于验证技能能否按用户语言要求输出成品。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工作流依次控制内容、视觉与交付质量。</a:t>
            </a:r>
          </a:p>
          <a:p xmlns:a="http://schemas.openxmlformats.org/drawingml/2006/main">
            <a:r>
              <a:t>任何一段出现问题，都回到对应步骤修正。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大纲完成后先优化结构，再补齐事实和来源。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生成图只补充缺失的表达，不替代精确数据和可编辑文字。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制作发生在内容、素材和排版决定完成之后。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这些理论提供条件化设计指导，不保证某一种版式适合所有场景。</a:t>
            </a:r>
          </a:p>
          <a:p xmlns:a="http://schemas.openxmlformats.org/drawingml/2006/main">
            <a:r>
              <a:t>具体判断仍以用户目标、事实、受众和展示条件为准。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仓库提供工程案例，理论结论仍回到原始研究来源。</a:t>
            </a:r>
          </a:p>
          <a:p xmlns:a="http://schemas.openxmlformats.org/drawingml/2006/main">
            <a:r>
              <a:t>这些项目之间没有已确认的官方、继承或等价关系。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双语指技能说明可用中文和英文阅读。</a:t>
            </a:r>
          </a:p>
          <a:p xmlns:a="http://schemas.openxmlformats.org/drawingml/2006/main">
            <a:r>
              <a:t>成品演示使用用户指定语言，只有明确要求时才制作双语页面。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这页记录示例的实际工作链路，不加入未经验证的性能数据。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交付标准包括可用文件与检查证据。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b430dca2b4d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d307f4650447e7" /><Relationship Type="http://schemas.openxmlformats.org/officeDocument/2006/relationships/slideLayout" Target="/ppt/slideLayouts/slideLayout1.xml" Id="R733b65e11309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3b65e11309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d52c835b54b26" /><Relationship Type="http://schemas.openxmlformats.org/officeDocument/2006/relationships/image" Target="/ppt/media/image.png" Id="R69ae0ab918ec4970" /><Relationship Type="http://schemas.openxmlformats.org/officeDocument/2006/relationships/notesSlide" Target="/ppt/notesSlides/notesSlide1.xml" Id="R6ad3a3668d684d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3348095954e80" /><Relationship Type="http://schemas.openxmlformats.org/officeDocument/2006/relationships/notesSlide" Target="/ppt/notesSlides/notesSlide2.xml" Id="R6997eabc9fb5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d75770a284a3b" /><Relationship Type="http://schemas.openxmlformats.org/officeDocument/2006/relationships/notesSlide" Target="/ppt/notesSlides/notesSlide3.xml" Id="R6fc419a0f5df45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30441d9124e35" /><Relationship Type="http://schemas.openxmlformats.org/officeDocument/2006/relationships/notesSlide" Target="/ppt/notesSlides/notesSlide4.xml" Id="R972a4426ce444c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3eda67b26422c" /><Relationship Type="http://schemas.openxmlformats.org/officeDocument/2006/relationships/notesSlide" Target="/ppt/notesSlides/notesSlide5.xml" Id="R8ad9062b94af44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605d357f54a60" /><Relationship Type="http://schemas.openxmlformats.org/officeDocument/2006/relationships/notesSlide" Target="/ppt/notesSlides/notesSlide6.xml" Id="Rec8d4c56f29b49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d069bc72248ab" /><Relationship Type="http://schemas.openxmlformats.org/officeDocument/2006/relationships/notesSlide" Target="/ppt/notesSlides/notesSlide7.xml" Id="Rdbbdcdd7f82b43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198e22db54012" /><Relationship Type="http://schemas.openxmlformats.org/officeDocument/2006/relationships/notesSlide" Target="/ppt/notesSlides/notesSlide8.xml" Id="R197ccb0b4fa74a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ca3c08172492b" /><Relationship Type="http://schemas.openxmlformats.org/officeDocument/2006/relationships/notesSlide" Target="/ppt/notesSlides/notesSlide9.xml" Id="R189112d441154b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09868745d499f" /><Relationship Type="http://schemas.openxmlformats.org/officeDocument/2006/relationships/hyperlink" Target="https://github.com/wenkai20070617-cell/ppt-craft" TargetMode="External" Id="R187eea725abf49ca" /><Relationship Type="http://schemas.openxmlformats.org/officeDocument/2006/relationships/notesSlide" Target="/ppt/notesSlides/notesSlide10.xml" Id="R1912fd99ce4749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E18957DE-C6BE-40E4-BECA-AEC2B6A5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0" name="cover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e0ab918ec4970"/>
          <a:srcRect xmlns:a="http://schemas.openxmlformats.org/drawingml/2006/main" l="13291" t="0" r="132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924550" cy="6457950"/>
          </a:xfrm>
          <a:prstGeom xmlns:a="http://schemas.openxmlformats.org/drawingml/2006/main" prst="roundRect">
            <a:avLst>
              <a:gd name="adj" fmla="val 2894"/>
            </a:avLst>
          </a:prstGeom>
        </p:spPr>
      </p:pic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97FA49B-3177-4D6F-A438-B8BD0437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PPT Craft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9048BDF-740B-4E22-9F07-7E324E09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53340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从需求到
可验收演示</a:t>
            </a:r>
          </a:p>
        </p:txBody>
      </p:sp>
      <p:sp>
        <p:nvSpPr>
          <p:cNvPr id="5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BD7658D9-7123-46BE-8E45-1B4BE1E4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95700"/>
            <a:ext cx="5334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用清晰流程控制内容、视觉与交付质量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E975720-BF82-41ED-B8D1-3D12E6D1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大纲 · 证据 · 配图 · 排版 · 渲染检查</a:t>
            </a:r>
          </a:p>
        </p:txBody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C0159AF0-8B7F-41B9-8B21-96850A0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674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中文示例</a:t>
            </a:r>
          </a:p>
        </p:txBody>
      </p:sp>
      <p:sp>
        <p:nvSpPr>
          <p:cNvPr id="8" name="cover-page">
            <a:extLst xmlns:a="http://schemas.openxmlformats.org/drawingml/2006/main">
              <a:ext uri="{FF2B5EF4-FFF2-40B4-BE49-F238E27FC236}">
                <a16:creationId xmlns:a16="http://schemas.microsoft.com/office/drawing/2014/main" id="{487DAD71-0A9E-4786-8D40-E7C58772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7854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2">
            <a:extLst xmlns:a="http://schemas.openxmlformats.org/drawingml/2006/main">
              <a:ext uri="{FF2B5EF4-FFF2-40B4-BE49-F238E27FC236}">
                <a16:creationId xmlns:a16="http://schemas.microsoft.com/office/drawing/2014/main" id="{FE1BB08A-50CC-47B4-A01B-8C037E86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好演示来自一条可控链路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868DE4D4-7E65-46A2-A9DF-C119AE28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3" name="system-rule-0">
            <a:extLst xmlns:a="http://schemas.openxmlformats.org/drawingml/2006/main">
              <a:ext uri="{FF2B5EF4-FFF2-40B4-BE49-F238E27FC236}">
                <a16:creationId xmlns:a16="http://schemas.microsoft.com/office/drawing/2014/main" id="{BE2D4D6A-BB2C-414C-9C96-2267484E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ystem-no-0">
            <a:extLst xmlns:a="http://schemas.openxmlformats.org/drawingml/2006/main">
              <a:ext uri="{FF2B5EF4-FFF2-40B4-BE49-F238E27FC236}">
                <a16:creationId xmlns:a16="http://schemas.microsoft.com/office/drawing/2014/main" id="{189D666A-C583-4430-9348-3B4542C3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14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system-title-0">
            <a:extLst xmlns:a="http://schemas.openxmlformats.org/drawingml/2006/main">
              <a:ext uri="{FF2B5EF4-FFF2-40B4-BE49-F238E27FC236}">
                <a16:creationId xmlns:a16="http://schemas.microsoft.com/office/drawing/2014/main" id="{249BC119-4EE3-454E-A9E5-05694D9F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</a:t>
            </a:r>
          </a:p>
        </p:txBody>
      </p:sp>
      <p:sp>
        <p:nvSpPr>
          <p:cNvPr id="6" name="system-main-0">
            <a:extLst xmlns:a="http://schemas.openxmlformats.org/drawingml/2006/main">
              <a:ext uri="{FF2B5EF4-FFF2-40B4-BE49-F238E27FC236}">
                <a16:creationId xmlns:a16="http://schemas.microsoft.com/office/drawing/2014/main" id="{F38BC3DD-AA4F-42DA-869D-69A1A2D4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3238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结论、论点与证据先形成可核验结构。</a:t>
            </a:r>
          </a:p>
        </p:txBody>
      </p:sp>
      <p:sp>
        <p:nvSpPr>
          <p:cNvPr id="7" name="system-detail-0">
            <a:extLst xmlns:a="http://schemas.openxmlformats.org/drawingml/2006/main">
              <a:ext uri="{FF2B5EF4-FFF2-40B4-BE49-F238E27FC236}">
                <a16:creationId xmlns:a16="http://schemas.microsoft.com/office/drawing/2014/main" id="{C5EB6F7B-5DFB-4BDC-AF63-501648A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96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先确定每页任务，再决定保留什么。</a:t>
            </a:r>
          </a:p>
        </p:txBody>
      </p:sp>
      <p:sp>
        <p:nvSpPr>
          <p:cNvPr id="8" name="system-rule-1">
            <a:extLst xmlns:a="http://schemas.openxmlformats.org/drawingml/2006/main">
              <a:ext uri="{FF2B5EF4-FFF2-40B4-BE49-F238E27FC236}">
                <a16:creationId xmlns:a16="http://schemas.microsoft.com/office/drawing/2014/main" id="{078D8E24-B369-4852-B130-0092576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ystem-no-1">
            <a:extLst xmlns:a="http://schemas.openxmlformats.org/drawingml/2006/main">
              <a:ext uri="{FF2B5EF4-FFF2-40B4-BE49-F238E27FC236}">
                <a16:creationId xmlns:a16="http://schemas.microsoft.com/office/drawing/2014/main" id="{524CB412-309C-46A1-9183-62BFE555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114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ystem-title-1">
            <a:extLst xmlns:a="http://schemas.openxmlformats.org/drawingml/2006/main">
              <a:ext uri="{FF2B5EF4-FFF2-40B4-BE49-F238E27FC236}">
                <a16:creationId xmlns:a16="http://schemas.microsoft.com/office/drawing/2014/main" id="{5A8DAB29-1834-4E57-96DD-0D13251E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视觉</a:t>
            </a:r>
          </a:p>
        </p:txBody>
      </p:sp>
      <p:sp>
        <p:nvSpPr>
          <p:cNvPr id="11" name="system-main-1">
            <a:extLst xmlns:a="http://schemas.openxmlformats.org/drawingml/2006/main">
              <a:ext uri="{FF2B5EF4-FFF2-40B4-BE49-F238E27FC236}">
                <a16:creationId xmlns:a16="http://schemas.microsoft.com/office/drawing/2014/main" id="{02669995-9DE6-4619-B5F9-6B951427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3238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每个图像和图表都有明确的表达任务。</a:t>
            </a:r>
          </a:p>
        </p:txBody>
      </p:sp>
      <p:sp>
        <p:nvSpPr>
          <p:cNvPr id="12" name="system-detail-1">
            <a:extLst xmlns:a="http://schemas.openxmlformats.org/drawingml/2006/main">
              <a:ext uri="{FF2B5EF4-FFF2-40B4-BE49-F238E27FC236}">
                <a16:creationId xmlns:a16="http://schemas.microsoft.com/office/drawing/2014/main" id="{B8289E7C-DA72-4C81-BFA1-29ABB5FE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来源、裁切与版面位置共同核对。</a:t>
            </a:r>
          </a:p>
        </p:txBody>
      </p:sp>
      <p:sp>
        <p:nvSpPr>
          <p:cNvPr id="13" name="system-rule-2">
            <a:extLst xmlns:a="http://schemas.openxmlformats.org/drawingml/2006/main">
              <a:ext uri="{FF2B5EF4-FFF2-40B4-BE49-F238E27FC236}">
                <a16:creationId xmlns:a16="http://schemas.microsoft.com/office/drawing/2014/main" id="{69316792-57E0-4F77-BC10-4E85D704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ystem-no-2">
            <a:extLst xmlns:a="http://schemas.openxmlformats.org/drawingml/2006/main">
              <a:ext uri="{FF2B5EF4-FFF2-40B4-BE49-F238E27FC236}">
                <a16:creationId xmlns:a16="http://schemas.microsoft.com/office/drawing/2014/main" id="{3359A6A0-E97A-4CE3-AD16-1B453D1C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114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5" name="system-title-2">
            <a:extLst xmlns:a="http://schemas.openxmlformats.org/drawingml/2006/main">
              <a:ext uri="{FF2B5EF4-FFF2-40B4-BE49-F238E27FC236}">
                <a16:creationId xmlns:a16="http://schemas.microsoft.com/office/drawing/2014/main" id="{0CF44FBA-25AD-4879-A3FD-EACA6D47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</a:t>
            </a:r>
          </a:p>
        </p:txBody>
      </p:sp>
      <p:sp>
        <p:nvSpPr>
          <p:cNvPr id="16" name="system-main-2">
            <a:extLst xmlns:a="http://schemas.openxmlformats.org/drawingml/2006/main">
              <a:ext uri="{FF2B5EF4-FFF2-40B4-BE49-F238E27FC236}">
                <a16:creationId xmlns:a16="http://schemas.microsoft.com/office/drawing/2014/main" id="{B890B43F-55FF-4C7C-81AF-E05A801E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238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文件、几何和渲染检查共同保证可用性。</a:t>
            </a:r>
          </a:p>
        </p:txBody>
      </p:sp>
      <p:sp>
        <p:nvSpPr>
          <p:cNvPr id="17" name="system-detail-2">
            <a:extLst xmlns:a="http://schemas.openxmlformats.org/drawingml/2006/main">
              <a:ext uri="{FF2B5EF4-FFF2-40B4-BE49-F238E27FC236}">
                <a16:creationId xmlns:a16="http://schemas.microsoft.com/office/drawing/2014/main" id="{F240636E-3867-4438-A3AD-0E6E7B4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逐页检查后修复，再次渲染确认。</a:t>
            </a:r>
          </a:p>
        </p:txBody>
      </p:sp>
    </p:spTree>
    <p:extLst>
      <p:ext uri="{BB962C8B-B14F-4D97-AF65-F5344CB8AC3E}">
        <p14:creationId xmlns:p14="http://schemas.microsoft.com/office/powerpoint/2010/main" val="2894614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3">
            <a:extLst xmlns:a="http://schemas.openxmlformats.org/drawingml/2006/main">
              <a:ext uri="{FF2B5EF4-FFF2-40B4-BE49-F238E27FC236}">
                <a16:creationId xmlns:a16="http://schemas.microsoft.com/office/drawing/2014/main" id="{417633DE-0D32-46C2-933C-68452705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步骤 1—3：先把论证做实</a:t>
            </a:r>
          </a:p>
        </p:txBody>
      </p:sp>
      <p:sp>
        <p:nvSpPr>
          <p:cNvPr id="2" name="source-3">
            <a:extLst xmlns:a="http://schemas.openxmlformats.org/drawingml/2006/main">
              <a:ext uri="{FF2B5EF4-FFF2-40B4-BE49-F238E27FC236}">
                <a16:creationId xmlns:a16="http://schemas.microsoft.com/office/drawing/2014/main" id="{DABA12DB-F282-41C8-ACE4-F2E3D259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来源：PPT Craft 工作流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EDADF2F-6B06-4FA2-9258-1B234FB8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20" name="timeline-3"/>
          <p:cNvCxnSpPr/>
          <p:nvPr/>
        </p:nvCxnSpPr>
        <p:spPr>
          <a:xfrm xmlns:a="http://schemas.openxmlformats.org/drawingml/2006/main">
            <a:off x="390525" y="3009900"/>
            <a:ext cx="11401425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5" name="dot-3-0">
            <a:extLst xmlns:a="http://schemas.openxmlformats.org/drawingml/2006/main">
              <a:ext uri="{FF2B5EF4-FFF2-40B4-BE49-F238E27FC236}">
                <a16:creationId xmlns:a16="http://schemas.microsoft.com/office/drawing/2014/main" id="{1F4B3E26-8EC3-4010-B1AA-FAF9C5EB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3-0">
            <a:extLst xmlns:a="http://schemas.openxmlformats.org/drawingml/2006/main">
              <a:ext uri="{FF2B5EF4-FFF2-40B4-BE49-F238E27FC236}">
                <a16:creationId xmlns:a16="http://schemas.microsoft.com/office/drawing/2014/main" id="{2DD480D7-11C4-42C9-9690-D8533B7C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  写大纲</a:t>
            </a:r>
          </a:p>
        </p:txBody>
      </p:sp>
      <p:sp>
        <p:nvSpPr>
          <p:cNvPr id="7" name="stage-title-3-0">
            <a:extLst xmlns:a="http://schemas.openxmlformats.org/drawingml/2006/main">
              <a:ext uri="{FF2B5EF4-FFF2-40B4-BE49-F238E27FC236}">
                <a16:creationId xmlns:a16="http://schemas.microsoft.com/office/drawing/2014/main" id="{DAD62DB6-E5EB-4991-9B96-F9307EB1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写清每页任务</a:t>
            </a:r>
          </a:p>
        </p:txBody>
      </p:sp>
      <p:sp>
        <p:nvSpPr>
          <p:cNvPr id="8" name="stage-detail-3-0">
            <a:extLst xmlns:a="http://schemas.openxmlformats.org/drawingml/2006/main">
              <a:ext uri="{FF2B5EF4-FFF2-40B4-BE49-F238E27FC236}">
                <a16:creationId xmlns:a16="http://schemas.microsoft.com/office/drawing/2014/main" id="{8F894F4A-5E71-42ED-A0FF-D05010DE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明确受众、中心结论、证据需求和页面作用。</a:t>
            </a:r>
          </a:p>
        </p:txBody>
      </p:sp>
      <p:sp>
        <p:nvSpPr>
          <p:cNvPr id="9" name="dot-3-1">
            <a:extLst xmlns:a="http://schemas.openxmlformats.org/drawingml/2006/main">
              <a:ext uri="{FF2B5EF4-FFF2-40B4-BE49-F238E27FC236}">
                <a16:creationId xmlns:a16="http://schemas.microsoft.com/office/drawing/2014/main" id="{BA0E5AF6-BC5F-4C35-AD78-0A6FBA1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-1">
            <a:extLst xmlns:a="http://schemas.openxmlformats.org/drawingml/2006/main">
              <a:ext uri="{FF2B5EF4-FFF2-40B4-BE49-F238E27FC236}">
                <a16:creationId xmlns:a16="http://schemas.microsoft.com/office/drawing/2014/main" id="{3DEC9746-5819-4ED4-B2BB-6C5115ED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  优化大纲</a:t>
            </a:r>
          </a:p>
        </p:txBody>
      </p:sp>
      <p:sp>
        <p:nvSpPr>
          <p:cNvPr id="11" name="stage-title-3-1">
            <a:extLst xmlns:a="http://schemas.openxmlformats.org/drawingml/2006/main">
              <a:ext uri="{FF2B5EF4-FFF2-40B4-BE49-F238E27FC236}">
                <a16:creationId xmlns:a16="http://schemas.microsoft.com/office/drawing/2014/main" id="{C103ED52-2940-4F77-BF5D-13C02A5E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修正顺序与缺口</a:t>
            </a:r>
          </a:p>
        </p:txBody>
      </p:sp>
      <p:sp>
        <p:nvSpPr>
          <p:cNvPr id="12" name="stage-detail-3-1">
            <a:extLst xmlns:a="http://schemas.openxmlformats.org/drawingml/2006/main">
              <a:ext uri="{FF2B5EF4-FFF2-40B4-BE49-F238E27FC236}">
                <a16:creationId xmlns:a16="http://schemas.microsoft.com/office/drawing/2014/main" id="{169751EE-BC65-4805-9114-9923EE0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删除重复，补齐逻辑跳跃、证据缺口与过渡。</a:t>
            </a:r>
          </a:p>
        </p:txBody>
      </p:sp>
      <p:sp>
        <p:nvSpPr>
          <p:cNvPr id="13" name="dot-3-2">
            <a:extLst xmlns:a="http://schemas.openxmlformats.org/drawingml/2006/main">
              <a:ext uri="{FF2B5EF4-FFF2-40B4-BE49-F238E27FC236}">
                <a16:creationId xmlns:a16="http://schemas.microsoft.com/office/drawing/2014/main" id="{9EDFC2DE-2297-4DEE-B5F8-0ACE24C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-3-2">
            <a:extLst xmlns:a="http://schemas.openxmlformats.org/drawingml/2006/main">
              <a:ext uri="{FF2B5EF4-FFF2-40B4-BE49-F238E27FC236}">
                <a16:creationId xmlns:a16="http://schemas.microsoft.com/office/drawing/2014/main" id="{1E0C9DE5-6FDE-47CA-8EAE-7B2C21C0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  丰富大纲</a:t>
            </a:r>
          </a:p>
        </p:txBody>
      </p:sp>
      <p:sp>
        <p:nvSpPr>
          <p:cNvPr id="15" name="stage-title-3-2">
            <a:extLst xmlns:a="http://schemas.openxmlformats.org/drawingml/2006/main">
              <a:ext uri="{FF2B5EF4-FFF2-40B4-BE49-F238E27FC236}">
                <a16:creationId xmlns:a16="http://schemas.microsoft.com/office/drawing/2014/main" id="{2B5BB5C6-4406-4F77-B7CE-630CDD9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绑定主张与来源</a:t>
            </a:r>
          </a:p>
        </p:txBody>
      </p:sp>
      <p:sp>
        <p:nvSpPr>
          <p:cNvPr id="16" name="stage-detail-3-2">
            <a:extLst xmlns:a="http://schemas.openxmlformats.org/drawingml/2006/main">
              <a:ext uri="{FF2B5EF4-FFF2-40B4-BE49-F238E27FC236}">
                <a16:creationId xmlns:a16="http://schemas.microsoft.com/office/drawing/2014/main" id="{F5BFBCDF-0DDE-442E-8922-958CE521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把事实、数据、案例和来源落实到对应页面。</a:t>
            </a:r>
          </a:p>
        </p:txBody>
      </p:sp>
    </p:spTree>
    <p:extLst>
      <p:ext uri="{BB962C8B-B14F-4D97-AF65-F5344CB8AC3E}">
        <p14:creationId xmlns:p14="http://schemas.microsoft.com/office/powerpoint/2010/main" val="2023012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">
            <a:extLst xmlns:a="http://schemas.openxmlformats.org/drawingml/2006/main">
              <a:ext uri="{FF2B5EF4-FFF2-40B4-BE49-F238E27FC236}">
                <a16:creationId xmlns:a16="http://schemas.microsoft.com/office/drawing/2014/main" id="{213E133C-C27F-4559-BA86-9AF8AE2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步骤 4—6：每张图都有任务</a:t>
            </a:r>
          </a:p>
        </p:txBody>
      </p:sp>
      <p:sp>
        <p:nvSpPr>
          <p:cNvPr id="2" name="source-4">
            <a:extLst xmlns:a="http://schemas.openxmlformats.org/drawingml/2006/main">
              <a:ext uri="{FF2B5EF4-FFF2-40B4-BE49-F238E27FC236}">
                <a16:creationId xmlns:a16="http://schemas.microsoft.com/office/drawing/2014/main" id="{760E91C3-D78F-497C-B3E3-FF32F391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来源：PPT Craft 工作流；GitHub 项目实现调研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74EB020C-6244-4C05-A276-7E03AE88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20" name="timeline-4"/>
          <p:cNvCxnSpPr/>
          <p:nvPr/>
        </p:nvCxnSpPr>
        <p:spPr>
          <a:xfrm xmlns:a="http://schemas.openxmlformats.org/drawingml/2006/main">
            <a:off x="390525" y="3009900"/>
            <a:ext cx="11401425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5" name="dot-4-0">
            <a:extLst xmlns:a="http://schemas.openxmlformats.org/drawingml/2006/main">
              <a:ext uri="{FF2B5EF4-FFF2-40B4-BE49-F238E27FC236}">
                <a16:creationId xmlns:a16="http://schemas.microsoft.com/office/drawing/2014/main" id="{AFFF4B7E-337C-4662-939A-9E1BA774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4-0">
            <a:extLst xmlns:a="http://schemas.openxmlformats.org/drawingml/2006/main">
              <a:ext uri="{FF2B5EF4-FFF2-40B4-BE49-F238E27FC236}">
                <a16:creationId xmlns:a16="http://schemas.microsoft.com/office/drawing/2014/main" id="{8DD0117B-9D2C-4A11-B5F7-2EA2A5D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04  配图</a:t>
            </a:r>
          </a:p>
        </p:txBody>
      </p:sp>
      <p:sp>
        <p:nvSpPr>
          <p:cNvPr id="7" name="stage-title-4-0">
            <a:extLst xmlns:a="http://schemas.openxmlformats.org/drawingml/2006/main">
              <a:ext uri="{FF2B5EF4-FFF2-40B4-BE49-F238E27FC236}">
                <a16:creationId xmlns:a16="http://schemas.microsoft.com/office/drawing/2014/main" id="{323FF318-86A0-4A98-A738-E62DFE2B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先定义视觉任务</a:t>
            </a:r>
          </a:p>
        </p:txBody>
      </p:sp>
      <p:sp>
        <p:nvSpPr>
          <p:cNvPr id="8" name="stage-detail-4-0">
            <a:extLst xmlns:a="http://schemas.openxmlformats.org/drawingml/2006/main">
              <a:ext uri="{FF2B5EF4-FFF2-40B4-BE49-F238E27FC236}">
                <a16:creationId xmlns:a16="http://schemas.microsoft.com/office/drawing/2014/main" id="{29AB8975-9C6A-484B-BA55-8D90E0F4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明确图片要解释、比较、证明或营造什么。</a:t>
            </a:r>
          </a:p>
        </p:txBody>
      </p:sp>
      <p:sp>
        <p:nvSpPr>
          <p:cNvPr id="9" name="dot-4-1">
            <a:extLst xmlns:a="http://schemas.openxmlformats.org/drawingml/2006/main">
              <a:ext uri="{FF2B5EF4-FFF2-40B4-BE49-F238E27FC236}">
                <a16:creationId xmlns:a16="http://schemas.microsoft.com/office/drawing/2014/main" id="{D14FF48F-B5E2-42C4-AAD3-DB17095E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4-1">
            <a:extLst xmlns:a="http://schemas.openxmlformats.org/drawingml/2006/main">
              <a:ext uri="{FF2B5EF4-FFF2-40B4-BE49-F238E27FC236}">
                <a16:creationId xmlns:a16="http://schemas.microsoft.com/office/drawing/2014/main" id="{4B3308FF-49FD-417C-8920-AB4E9BAA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05  优化配图</a:t>
            </a:r>
          </a:p>
        </p:txBody>
      </p:sp>
      <p:sp>
        <p:nvSpPr>
          <p:cNvPr id="11" name="stage-title-4-1">
            <a:extLst xmlns:a="http://schemas.openxmlformats.org/drawingml/2006/main">
              <a:ext uri="{FF2B5EF4-FFF2-40B4-BE49-F238E27FC236}">
                <a16:creationId xmlns:a16="http://schemas.microsoft.com/office/drawing/2014/main" id="{DF6B8FA2-E0C0-4D80-AA18-03C22C26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核对来源与裁切</a:t>
            </a:r>
          </a:p>
        </p:txBody>
      </p:sp>
      <p:sp>
        <p:nvSpPr>
          <p:cNvPr id="12" name="stage-detail-4-1">
            <a:extLst xmlns:a="http://schemas.openxmlformats.org/drawingml/2006/main">
              <a:ext uri="{FF2B5EF4-FFF2-40B4-BE49-F238E27FC236}">
                <a16:creationId xmlns:a16="http://schemas.microsoft.com/office/drawing/2014/main" id="{83892DC0-B0FA-4EF8-9A4A-3FFCD6D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检查许可、分辨率、留白、裁切和文字覆盖区域。</a:t>
            </a:r>
          </a:p>
        </p:txBody>
      </p:sp>
      <p:sp>
        <p:nvSpPr>
          <p:cNvPr id="13" name="dot-4-2">
            <a:extLst xmlns:a="http://schemas.openxmlformats.org/drawingml/2006/main">
              <a:ext uri="{FF2B5EF4-FFF2-40B4-BE49-F238E27FC236}">
                <a16:creationId xmlns:a16="http://schemas.microsoft.com/office/drawing/2014/main" id="{113CE054-D91E-45A1-AB82-0AC37DF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-4-2">
            <a:extLst xmlns:a="http://schemas.openxmlformats.org/drawingml/2006/main">
              <a:ext uri="{FF2B5EF4-FFF2-40B4-BE49-F238E27FC236}">
                <a16:creationId xmlns:a16="http://schemas.microsoft.com/office/drawing/2014/main" id="{0626A25F-3929-4D96-85FF-BBD7B48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06  生图</a:t>
            </a:r>
          </a:p>
        </p:txBody>
      </p:sp>
      <p:sp>
        <p:nvSpPr>
          <p:cNvPr id="15" name="stage-title-4-2">
            <a:extLst xmlns:a="http://schemas.openxmlformats.org/drawingml/2006/main">
              <a:ext uri="{FF2B5EF4-FFF2-40B4-BE49-F238E27FC236}">
                <a16:creationId xmlns:a16="http://schemas.microsoft.com/office/drawing/2014/main" id="{1E2DD1AB-ADD7-41F9-974B-2B117907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样张通过后再扩展</a:t>
            </a:r>
          </a:p>
        </p:txBody>
      </p:sp>
      <p:sp>
        <p:nvSpPr>
          <p:cNvPr id="16" name="stage-detail-4-2">
            <a:extLst xmlns:a="http://schemas.openxmlformats.org/drawingml/2006/main">
              <a:ext uri="{FF2B5EF4-FFF2-40B4-BE49-F238E27FC236}">
                <a16:creationId xmlns:a16="http://schemas.microsoft.com/office/drawing/2014/main" id="{D38A260C-E513-4CAE-B936-FDF5D23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先审查代表图，再生成其余素材并保持一致。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955399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5">
            <a:extLst xmlns:a="http://schemas.openxmlformats.org/drawingml/2006/main">
              <a:ext uri="{FF2B5EF4-FFF2-40B4-BE49-F238E27FC236}">
                <a16:creationId xmlns:a16="http://schemas.microsoft.com/office/drawing/2014/main" id="{C9891810-3677-4B58-97B2-BDF3934C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步骤 7—9：排版进入生产</a:t>
            </a:r>
          </a:p>
        </p:txBody>
      </p:sp>
      <p:sp>
        <p:nvSpPr>
          <p:cNvPr id="2" name="source-5">
            <a:extLst xmlns:a="http://schemas.openxmlformats.org/drawingml/2006/main">
              <a:ext uri="{FF2B5EF4-FFF2-40B4-BE49-F238E27FC236}">
                <a16:creationId xmlns:a16="http://schemas.microsoft.com/office/drawing/2014/main" id="{B8B7DD7C-3DEF-4F86-9536-BCEE287A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来源：PPT Craft 工作流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E385BAC9-F672-4BB1-BE1C-7E91C229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cxnSp>
        <p:nvCxnSpPr>
          <p:cNvPr id="20" name="timeline-5"/>
          <p:cNvCxnSpPr/>
          <p:nvPr/>
        </p:nvCxnSpPr>
        <p:spPr>
          <a:xfrm xmlns:a="http://schemas.openxmlformats.org/drawingml/2006/main">
            <a:off x="390525" y="3009900"/>
            <a:ext cx="11401425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5" name="dot-5-0">
            <a:extLst xmlns:a="http://schemas.openxmlformats.org/drawingml/2006/main">
              <a:ext uri="{FF2B5EF4-FFF2-40B4-BE49-F238E27FC236}">
                <a16:creationId xmlns:a16="http://schemas.microsoft.com/office/drawing/2014/main" id="{34E38052-732A-4ECF-988F-51F7518F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5-0">
            <a:extLst xmlns:a="http://schemas.openxmlformats.org/drawingml/2006/main">
              <a:ext uri="{FF2B5EF4-FFF2-40B4-BE49-F238E27FC236}">
                <a16:creationId xmlns:a16="http://schemas.microsoft.com/office/drawing/2014/main" id="{C2AE6BB4-0457-47D7-87CF-3660ED0A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07  排版方案</a:t>
            </a:r>
          </a:p>
        </p:txBody>
      </p:sp>
      <p:sp>
        <p:nvSpPr>
          <p:cNvPr id="7" name="stage-title-5-0">
            <a:extLst xmlns:a="http://schemas.openxmlformats.org/drawingml/2006/main">
              <a:ext uri="{FF2B5EF4-FFF2-40B4-BE49-F238E27FC236}">
                <a16:creationId xmlns:a16="http://schemas.microsoft.com/office/drawing/2014/main" id="{CF4C3748-D70E-43EE-B469-63A5BED7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确定页面结构</a:t>
            </a:r>
          </a:p>
        </p:txBody>
      </p:sp>
      <p:sp>
        <p:nvSpPr>
          <p:cNvPr id="8" name="stage-detail-5-0">
            <a:extLst xmlns:a="http://schemas.openxmlformats.org/drawingml/2006/main">
              <a:ext uri="{FF2B5EF4-FFF2-40B4-BE49-F238E27FC236}">
                <a16:creationId xmlns:a16="http://schemas.microsoft.com/office/drawing/2014/main" id="{B6430E5B-2CF9-4F9C-9916-04D052F2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明确层级、位置、图表形式、对齐、色彩与留白。</a:t>
            </a:r>
          </a:p>
        </p:txBody>
      </p:sp>
      <p:sp>
        <p:nvSpPr>
          <p:cNvPr id="9" name="dot-5-1">
            <a:extLst xmlns:a="http://schemas.openxmlformats.org/drawingml/2006/main">
              <a:ext uri="{FF2B5EF4-FFF2-40B4-BE49-F238E27FC236}">
                <a16:creationId xmlns:a16="http://schemas.microsoft.com/office/drawing/2014/main" id="{37CE4E7F-8E65-452A-9029-84346188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5-1">
            <a:extLst xmlns:a="http://schemas.openxmlformats.org/drawingml/2006/main">
              <a:ext uri="{FF2B5EF4-FFF2-40B4-BE49-F238E27FC236}">
                <a16:creationId xmlns:a16="http://schemas.microsoft.com/office/drawing/2014/main" id="{C29D7E3C-5DCE-4B1C-9A93-13801FE3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08  优化排版</a:t>
            </a:r>
          </a:p>
        </p:txBody>
      </p:sp>
      <p:sp>
        <p:nvSpPr>
          <p:cNvPr id="11" name="stage-title-5-1">
            <a:extLst xmlns:a="http://schemas.openxmlformats.org/drawingml/2006/main">
              <a:ext uri="{FF2B5EF4-FFF2-40B4-BE49-F238E27FC236}">
                <a16:creationId xmlns:a16="http://schemas.microsoft.com/office/drawing/2014/main" id="{9608132B-26BA-48FA-8EA8-4FBF5A58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检查阅读与节奏</a:t>
            </a:r>
          </a:p>
        </p:txBody>
      </p:sp>
      <p:sp>
        <p:nvSpPr>
          <p:cNvPr id="12" name="stage-detail-5-1">
            <a:extLst xmlns:a="http://schemas.openxmlformats.org/drawingml/2006/main">
              <a:ext uri="{FF2B5EF4-FFF2-40B4-BE49-F238E27FC236}">
                <a16:creationId xmlns:a16="http://schemas.microsoft.com/office/drawing/2014/main" id="{F53D0451-E8C5-4227-BA59-02EFE63E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核对字号、密度、换行、裁切和跨页节奏。</a:t>
            </a:r>
          </a:p>
        </p:txBody>
      </p:sp>
      <p:sp>
        <p:nvSpPr>
          <p:cNvPr id="13" name="dot-5-2">
            <a:extLst xmlns:a="http://schemas.openxmlformats.org/drawingml/2006/main">
              <a:ext uri="{FF2B5EF4-FFF2-40B4-BE49-F238E27FC236}">
                <a16:creationId xmlns:a16="http://schemas.microsoft.com/office/drawing/2014/main" id="{9D5C906A-B9E6-48E1-ADD2-46AB8858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-5-2">
            <a:extLst xmlns:a="http://schemas.openxmlformats.org/drawingml/2006/main">
              <a:ext uri="{FF2B5EF4-FFF2-40B4-BE49-F238E27FC236}">
                <a16:creationId xmlns:a16="http://schemas.microsoft.com/office/drawing/2014/main" id="{D5579D86-BE7E-4BB3-8E14-9CE6A3B3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09  制作 PPT</a:t>
            </a:r>
          </a:p>
        </p:txBody>
      </p:sp>
      <p:sp>
        <p:nvSpPr>
          <p:cNvPr id="15" name="stage-title-5-2">
            <a:extLst xmlns:a="http://schemas.openxmlformats.org/drawingml/2006/main">
              <a:ext uri="{FF2B5EF4-FFF2-40B4-BE49-F238E27FC236}">
                <a16:creationId xmlns:a16="http://schemas.microsoft.com/office/drawing/2014/main" id="{9A555064-04E0-416D-8601-9E3DE846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生成并逐页验收</a:t>
            </a:r>
          </a:p>
        </p:txBody>
      </p:sp>
      <p:sp>
        <p:nvSpPr>
          <p:cNvPr id="16" name="stage-detail-5-2">
            <a:extLst xmlns:a="http://schemas.openxmlformats.org/drawingml/2006/main">
              <a:ext uri="{FF2B5EF4-FFF2-40B4-BE49-F238E27FC236}">
                <a16:creationId xmlns:a16="http://schemas.microsoft.com/office/drawing/2014/main" id="{50A9456B-0DF2-4AAB-B58D-02691553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导出文件、渲染全部页面、修复问题并复查。</a:t>
            </a:r>
          </a:p>
        </p:txBody>
      </p:sp>
    </p:spTree>
    <p:extLst>
      <p:ext uri="{BB962C8B-B14F-4D97-AF65-F5344CB8AC3E}">
        <p14:creationId xmlns:p14="http://schemas.microsoft.com/office/powerpoint/2010/main" val="2126656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6">
            <a:extLst xmlns:a="http://schemas.openxmlformats.org/drawingml/2006/main">
              <a:ext uri="{FF2B5EF4-FFF2-40B4-BE49-F238E27FC236}">
                <a16:creationId xmlns:a16="http://schemas.microsoft.com/office/drawing/2014/main" id="{12D19681-352C-4828-8BFD-51123EB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理论用于减少不必要阻力</a:t>
            </a:r>
          </a:p>
        </p:txBody>
      </p:sp>
      <p:sp>
        <p:nvSpPr>
          <p:cNvPr id="2" name="source-6">
            <a:extLst xmlns:a="http://schemas.openxmlformats.org/drawingml/2006/main">
              <a:ext uri="{FF2B5EF4-FFF2-40B4-BE49-F238E27FC236}">
                <a16:creationId xmlns:a16="http://schemas.microsoft.com/office/drawing/2014/main" id="{8CD6BD16-F188-46B2-85A7-DB2F5E47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来源：Mayer；Sweller；Cleveland 与 McGill；W3C；Microsoft Support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4730F8E-7C7C-490E-B21A-9EB1F42D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cxnSp>
        <p:nvCxnSpPr>
          <p:cNvPr id="25" name="theory-h-left"/>
          <p:cNvCxnSpPr/>
          <p:nvPr/>
        </p:nvCxnSpPr>
        <p:spPr>
          <a:xfrm xmlns:a="http://schemas.openxmlformats.org/drawingml/2006/main">
            <a:off x="390525" y="3943350"/>
            <a:ext cx="5143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6" name="theory-h-right"/>
          <p:cNvCxnSpPr/>
          <p:nvPr/>
        </p:nvCxnSpPr>
        <p:spPr>
          <a:xfrm xmlns:a="http://schemas.openxmlformats.org/drawingml/2006/main">
            <a:off x="6667500" y="3943350"/>
            <a:ext cx="5124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theory-title-0">
            <a:extLst xmlns:a="http://schemas.openxmlformats.org/drawingml/2006/main">
              <a:ext uri="{FF2B5EF4-FFF2-40B4-BE49-F238E27FC236}">
                <a16:creationId xmlns:a16="http://schemas.microsoft.com/office/drawing/2014/main" id="{F63D77D2-9F51-4153-AB9C-CA9F9B8A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连贯原则</a:t>
            </a:r>
          </a:p>
        </p:txBody>
      </p:sp>
      <p:sp>
        <p:nvSpPr>
          <p:cNvPr id="7" name="theory-accent-0">
            <a:extLst xmlns:a="http://schemas.openxmlformats.org/drawingml/2006/main">
              <a:ext uri="{FF2B5EF4-FFF2-40B4-BE49-F238E27FC236}">
                <a16:creationId xmlns:a16="http://schemas.microsoft.com/office/drawing/2014/main" id="{B422FEAE-824B-4208-9C3C-75105BF9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990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heory-main-0">
            <a:extLst xmlns:a="http://schemas.openxmlformats.org/drawingml/2006/main">
              <a:ext uri="{FF2B5EF4-FFF2-40B4-BE49-F238E27FC236}">
                <a16:creationId xmlns:a16="http://schemas.microsoft.com/office/drawing/2014/main" id="{3708CBE5-DC7D-4A1C-ADC1-C09AEED4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删除与页面任务无关的素材。</a:t>
            </a:r>
          </a:p>
        </p:txBody>
      </p:sp>
      <p:sp>
        <p:nvSpPr>
          <p:cNvPr id="9" name="theory-detail-0">
            <a:extLst xmlns:a="http://schemas.openxmlformats.org/drawingml/2006/main">
              <a:ext uri="{FF2B5EF4-FFF2-40B4-BE49-F238E27FC236}">
                <a16:creationId xmlns:a16="http://schemas.microsoft.com/office/drawing/2014/main" id="{6ED30CB9-2683-4ECB-B4B2-5F976749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90850"/>
            <a:ext cx="504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减少无关文字、装饰、动画和数据带来的负担。</a:t>
            </a:r>
          </a:p>
        </p:txBody>
      </p:sp>
      <p:sp>
        <p:nvSpPr>
          <p:cNvPr id="10" name="theory-title-1">
            <a:extLst xmlns:a="http://schemas.openxmlformats.org/drawingml/2006/main">
              <a:ext uri="{FF2B5EF4-FFF2-40B4-BE49-F238E27FC236}">
                <a16:creationId xmlns:a16="http://schemas.microsoft.com/office/drawing/2014/main" id="{8E8E541C-84BD-4AD0-A8B1-B12737A7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提示与邻近</a:t>
            </a:r>
          </a:p>
        </p:txBody>
      </p:sp>
      <p:sp>
        <p:nvSpPr>
          <p:cNvPr id="11" name="theory-accent-1">
            <a:extLst xmlns:a="http://schemas.openxmlformats.org/drawingml/2006/main">
              <a:ext uri="{FF2B5EF4-FFF2-40B4-BE49-F238E27FC236}">
                <a16:creationId xmlns:a16="http://schemas.microsoft.com/office/drawing/2014/main" id="{0574C93A-6179-46E3-AB40-FC62B4E0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990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eory-main-1">
            <a:extLst xmlns:a="http://schemas.openxmlformats.org/drawingml/2006/main">
              <a:ext uri="{FF2B5EF4-FFF2-40B4-BE49-F238E27FC236}">
                <a16:creationId xmlns:a16="http://schemas.microsoft.com/office/drawing/2014/main" id="{77787714-305A-43D5-BD89-BE15B25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突出重点，把说明放在对应图形旁。</a:t>
            </a:r>
          </a:p>
        </p:txBody>
      </p:sp>
      <p:sp>
        <p:nvSpPr>
          <p:cNvPr id="13" name="theory-detail-1">
            <a:extLst xmlns:a="http://schemas.openxmlformats.org/drawingml/2006/main">
              <a:ext uri="{FF2B5EF4-FFF2-40B4-BE49-F238E27FC236}">
                <a16:creationId xmlns:a16="http://schemas.microsoft.com/office/drawing/2014/main" id="{58C4DABF-6299-45B8-8810-1CCA2627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504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让观众更快找到关系，减少来回搜索。</a:t>
            </a:r>
          </a:p>
        </p:txBody>
      </p:sp>
      <p:sp>
        <p:nvSpPr>
          <p:cNvPr id="14" name="theory-title-2">
            <a:extLst xmlns:a="http://schemas.openxmlformats.org/drawingml/2006/main">
              <a:ext uri="{FF2B5EF4-FFF2-40B4-BE49-F238E27FC236}">
                <a16:creationId xmlns:a16="http://schemas.microsoft.com/office/drawing/2014/main" id="{79E2B5D3-0F8E-47D2-AB73-A7C796B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8625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图形感知</a:t>
            </a:r>
          </a:p>
        </p:txBody>
      </p:sp>
      <p:sp>
        <p:nvSpPr>
          <p:cNvPr id="15" name="theory-accent-2">
            <a:extLst xmlns:a="http://schemas.openxmlformats.org/drawingml/2006/main">
              <a:ext uri="{FF2B5EF4-FFF2-40B4-BE49-F238E27FC236}">
                <a16:creationId xmlns:a16="http://schemas.microsoft.com/office/drawing/2014/main" id="{5AE2AC2A-C6F8-43AF-B991-70660093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38700"/>
            <a:ext cx="990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heory-main-2">
            <a:extLst xmlns:a="http://schemas.openxmlformats.org/drawingml/2006/main">
              <a:ext uri="{FF2B5EF4-FFF2-40B4-BE49-F238E27FC236}">
                <a16:creationId xmlns:a16="http://schemas.microsoft.com/office/drawing/2014/main" id="{FF08013C-7399-4578-9D87-DECD2612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625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精确比较优先使用位置和长度。</a:t>
            </a:r>
          </a:p>
        </p:txBody>
      </p:sp>
      <p:sp>
        <p:nvSpPr>
          <p:cNvPr id="17" name="theory-detail-2">
            <a:extLst xmlns:a="http://schemas.openxmlformats.org/drawingml/2006/main">
              <a:ext uri="{FF2B5EF4-FFF2-40B4-BE49-F238E27FC236}">
                <a16:creationId xmlns:a16="http://schemas.microsoft.com/office/drawing/2014/main" id="{EAEFE7C1-CC58-4415-AFE9-272A331E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504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面积、角度和色彩适合表达时需谨慎使用。</a:t>
            </a:r>
          </a:p>
        </p:txBody>
      </p:sp>
      <p:sp>
        <p:nvSpPr>
          <p:cNvPr id="18" name="theory-title-3">
            <a:extLst xmlns:a="http://schemas.openxmlformats.org/drawingml/2006/main">
              <a:ext uri="{FF2B5EF4-FFF2-40B4-BE49-F238E27FC236}">
                <a16:creationId xmlns:a16="http://schemas.microsoft.com/office/drawing/2014/main" id="{BCD3A43B-9F70-4443-B682-EC092F01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可访问性</a:t>
            </a:r>
          </a:p>
        </p:txBody>
      </p:sp>
      <p:sp>
        <p:nvSpPr>
          <p:cNvPr id="19" name="theory-accent-3">
            <a:extLst xmlns:a="http://schemas.openxmlformats.org/drawingml/2006/main">
              <a:ext uri="{FF2B5EF4-FFF2-40B4-BE49-F238E27FC236}">
                <a16:creationId xmlns:a16="http://schemas.microsoft.com/office/drawing/2014/main" id="{FC985F07-686E-4804-B9BC-30D5E8A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990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heory-main-3">
            <a:extLst xmlns:a="http://schemas.openxmlformats.org/drawingml/2006/main">
              <a:ext uri="{FF2B5EF4-FFF2-40B4-BE49-F238E27FC236}">
                <a16:creationId xmlns:a16="http://schemas.microsoft.com/office/drawing/2014/main" id="{DB1F26AE-CD48-4FC8-9779-09203A78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625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保证对比度、替代文本和非颜色线索。</a:t>
            </a:r>
          </a:p>
        </p:txBody>
      </p:sp>
      <p:sp>
        <p:nvSpPr>
          <p:cNvPr id="21" name="theory-detail-3">
            <a:extLst xmlns:a="http://schemas.openxmlformats.org/drawingml/2006/main">
              <a:ext uri="{FF2B5EF4-FFF2-40B4-BE49-F238E27FC236}">
                <a16:creationId xmlns:a16="http://schemas.microsoft.com/office/drawing/2014/main" id="{42A935CF-6A10-4615-AEBD-31550BF4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504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检查实际投影与阅读环境中的可辨识度。</a:t>
            </a:r>
          </a:p>
        </p:txBody>
      </p:sp>
    </p:spTree>
    <p:extLst>
      <p:ext uri="{BB962C8B-B14F-4D97-AF65-F5344CB8AC3E}">
        <p14:creationId xmlns:p14="http://schemas.microsoft.com/office/powerpoint/2010/main" val="683611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7">
            <a:extLst xmlns:a="http://schemas.openxmlformats.org/drawingml/2006/main">
              <a:ext uri="{FF2B5EF4-FFF2-40B4-BE49-F238E27FC236}">
                <a16:creationId xmlns:a16="http://schemas.microsoft.com/office/drawing/2014/main" id="{E61B8466-1203-4F7E-AE2E-416F042E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GitHub 实践补上工程纪律</a:t>
            </a:r>
          </a:p>
        </p:txBody>
      </p:sp>
      <p:sp>
        <p:nvSpPr>
          <p:cNvPr id="2" name="source-7">
            <a:extLst xmlns:a="http://schemas.openxmlformats.org/drawingml/2006/main">
              <a:ext uri="{FF2B5EF4-FFF2-40B4-BE49-F238E27FC236}">
                <a16:creationId xmlns:a16="http://schemas.microsoft.com/office/drawing/2014/main" id="{E71241AB-F1B1-4E99-A6D4-04AA71BC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来源：anthropics/skills；siril9/presentation-skill；ningzimu/codex-ppt-skill；Noi1r/powerpoint-skill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E2709438-AA7C-4999-BBE4-7D67D0C9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eng-no-0">
            <a:extLst xmlns:a="http://schemas.openxmlformats.org/drawingml/2006/main">
              <a:ext uri="{FF2B5EF4-FFF2-40B4-BE49-F238E27FC236}">
                <a16:creationId xmlns:a16="http://schemas.microsoft.com/office/drawing/2014/main" id="{8A01767D-0230-49ED-97A1-B7710163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91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eng-title-0">
            <a:extLst xmlns:a="http://schemas.openxmlformats.org/drawingml/2006/main">
              <a:ext uri="{FF2B5EF4-FFF2-40B4-BE49-F238E27FC236}">
                <a16:creationId xmlns:a16="http://schemas.microsoft.com/office/drawing/2014/main" id="{9B8172C1-D9AE-4B7E-AA45-88517D7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09725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来源优先</a:t>
            </a:r>
          </a:p>
        </p:txBody>
      </p:sp>
      <p:sp>
        <p:nvSpPr>
          <p:cNvPr id="6" name="eng-copy-0">
            <a:extLst xmlns:a="http://schemas.openxmlformats.org/drawingml/2006/main">
              <a:ext uri="{FF2B5EF4-FFF2-40B4-BE49-F238E27FC236}">
                <a16:creationId xmlns:a16="http://schemas.microsoft.com/office/drawing/2014/main" id="{3D21E9A3-A7A6-4DAA-99EF-5109C836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主张、证据、来源和页面保持对应。</a:t>
            </a:r>
          </a:p>
        </p:txBody>
      </p:sp>
      <p:cxnSp>
        <p:nvCxnSpPr>
          <p:cNvPr id="25" name="eng-rule-0"/>
          <p:cNvCxnSpPr/>
          <p:nvPr/>
        </p:nvCxnSpPr>
        <p:spPr>
          <a:xfrm xmlns:a="http://schemas.openxmlformats.org/drawingml/2006/main">
            <a:off x="1562100" y="2476500"/>
            <a:ext cx="9867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eng-no-1">
            <a:extLst xmlns:a="http://schemas.openxmlformats.org/drawingml/2006/main">
              <a:ext uri="{FF2B5EF4-FFF2-40B4-BE49-F238E27FC236}">
                <a16:creationId xmlns:a16="http://schemas.microsoft.com/office/drawing/2014/main" id="{2DF17347-9867-4DC2-8C11-81D66391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91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eng-title-1">
            <a:extLst xmlns:a="http://schemas.openxmlformats.org/drawingml/2006/main">
              <a:ext uri="{FF2B5EF4-FFF2-40B4-BE49-F238E27FC236}">
                <a16:creationId xmlns:a16="http://schemas.microsoft.com/office/drawing/2014/main" id="{14B6A6F6-E014-462F-BC94-813A272F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样张门槛</a:t>
            </a:r>
          </a:p>
        </p:txBody>
      </p:sp>
      <p:sp>
        <p:nvSpPr>
          <p:cNvPr id="10" name="eng-copy-1">
            <a:extLst xmlns:a="http://schemas.openxmlformats.org/drawingml/2006/main">
              <a:ext uri="{FF2B5EF4-FFF2-40B4-BE49-F238E27FC236}">
                <a16:creationId xmlns:a16="http://schemas.microsoft.com/office/drawing/2014/main" id="{D5739DC4-38DC-42A3-BA0F-1D8F31CA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批量生图或铺版前先检查代表页。</a:t>
            </a:r>
          </a:p>
        </p:txBody>
      </p:sp>
      <p:cxnSp>
        <p:nvCxnSpPr>
          <p:cNvPr id="29" name="eng-rule-1"/>
          <p:cNvCxnSpPr/>
          <p:nvPr/>
        </p:nvCxnSpPr>
        <p:spPr>
          <a:xfrm xmlns:a="http://schemas.openxmlformats.org/drawingml/2006/main">
            <a:off x="1562100" y="3581400"/>
            <a:ext cx="9867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eng-no-2">
            <a:extLst xmlns:a="http://schemas.openxmlformats.org/drawingml/2006/main">
              <a:ext uri="{FF2B5EF4-FFF2-40B4-BE49-F238E27FC236}">
                <a16:creationId xmlns:a16="http://schemas.microsoft.com/office/drawing/2014/main" id="{8839B630-9984-4CE7-B232-6D4EF81F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90950"/>
            <a:ext cx="91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eng-title-2">
            <a:extLst xmlns:a="http://schemas.openxmlformats.org/drawingml/2006/main">
              <a:ext uri="{FF2B5EF4-FFF2-40B4-BE49-F238E27FC236}">
                <a16:creationId xmlns:a16="http://schemas.microsoft.com/office/drawing/2014/main" id="{991A8CAF-8257-4982-BFA6-66B84BA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9525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编辑性选择</a:t>
            </a:r>
          </a:p>
        </p:txBody>
      </p:sp>
      <p:sp>
        <p:nvSpPr>
          <p:cNvPr id="14" name="eng-copy-2">
            <a:extLst xmlns:a="http://schemas.openxmlformats.org/drawingml/2006/main">
              <a:ext uri="{FF2B5EF4-FFF2-40B4-BE49-F238E27FC236}">
                <a16:creationId xmlns:a16="http://schemas.microsoft.com/office/drawing/2014/main" id="{2D7F3D5C-A018-44EF-9FD0-44F378C4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制作前确定原生对象、整页图片或混合路线。</a:t>
            </a:r>
          </a:p>
        </p:txBody>
      </p:sp>
      <p:cxnSp>
        <p:nvCxnSpPr>
          <p:cNvPr id="33" name="eng-rule-2"/>
          <p:cNvCxnSpPr/>
          <p:nvPr/>
        </p:nvCxnSpPr>
        <p:spPr>
          <a:xfrm xmlns:a="http://schemas.openxmlformats.org/drawingml/2006/main">
            <a:off x="1562100" y="4686300"/>
            <a:ext cx="9867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eng-no-3">
            <a:extLst xmlns:a="http://schemas.openxmlformats.org/drawingml/2006/main">
              <a:ext uri="{FF2B5EF4-FFF2-40B4-BE49-F238E27FC236}">
                <a16:creationId xmlns:a16="http://schemas.microsoft.com/office/drawing/2014/main" id="{FB684E74-C61D-48FC-864C-10C21F7B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95850"/>
            <a:ext cx="91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eng-title-3">
            <a:extLst xmlns:a="http://schemas.openxmlformats.org/drawingml/2006/main">
              <a:ext uri="{FF2B5EF4-FFF2-40B4-BE49-F238E27FC236}">
                <a16:creationId xmlns:a16="http://schemas.microsoft.com/office/drawing/2014/main" id="{DB18918F-E58C-407B-BF4B-AFFE3203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24425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分层质量检查</a:t>
            </a:r>
          </a:p>
        </p:txBody>
      </p:sp>
      <p:sp>
        <p:nvSpPr>
          <p:cNvPr id="18" name="eng-copy-3">
            <a:extLst xmlns:a="http://schemas.openxmlformats.org/drawingml/2006/main">
              <a:ext uri="{FF2B5EF4-FFF2-40B4-BE49-F238E27FC236}">
                <a16:creationId xmlns:a16="http://schemas.microsoft.com/office/drawing/2014/main" id="{F8E32500-81B3-4D1F-BC8E-F1615978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3395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内容、文件、几何和渲染分别检查。</a:t>
            </a:r>
          </a:p>
        </p:txBody>
      </p:sp>
    </p:spTree>
    <p:extLst>
      <p:ext uri="{BB962C8B-B14F-4D97-AF65-F5344CB8AC3E}">
        <p14:creationId xmlns:p14="http://schemas.microsoft.com/office/powerpoint/2010/main" val="1945133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810BFC88-229C-4FCA-B8E3-55E26995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技能双语，成品语言按需选择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A360A9AA-66E4-45A5-A705-3EF6184D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3" name="language-field">
            <a:extLst xmlns:a="http://schemas.openxmlformats.org/drawingml/2006/main">
              <a:ext uri="{FF2B5EF4-FFF2-40B4-BE49-F238E27FC236}">
                <a16:creationId xmlns:a16="http://schemas.microsoft.com/office/drawing/2014/main" id="{5DA9D15D-7F13-435A-ACB3-863D3C97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541020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nguage-field-label">
            <a:extLst xmlns:a="http://schemas.openxmlformats.org/drawingml/2006/main">
              <a:ext uri="{FF2B5EF4-FFF2-40B4-BE49-F238E27FC236}">
                <a16:creationId xmlns:a16="http://schemas.microsoft.com/office/drawing/2014/main" id="{8FC37213-F2BB-4B01-B433-1052574B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技能说明</a:t>
            </a:r>
          </a:p>
        </p:txBody>
      </p:sp>
      <p:sp>
        <p:nvSpPr>
          <p:cNvPr id="5" name="language-field-title">
            <a:extLst xmlns:a="http://schemas.openxmlformats.org/drawingml/2006/main">
              <a:ext uri="{FF2B5EF4-FFF2-40B4-BE49-F238E27FC236}">
                <a16:creationId xmlns:a16="http://schemas.microsoft.com/office/drawing/2014/main" id="{E15DD429-6796-48FE-AB07-209E449D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667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同时支持
中文与英文</a:t>
            </a:r>
          </a:p>
        </p:txBody>
      </p:sp>
      <p:sp>
        <p:nvSpPr>
          <p:cNvPr id="6" name="language-field-detail">
            <a:extLst xmlns:a="http://schemas.openxmlformats.org/drawingml/2006/main">
              <a:ext uri="{FF2B5EF4-FFF2-40B4-BE49-F238E27FC236}">
                <a16:creationId xmlns:a16="http://schemas.microsoft.com/office/drawing/2014/main" id="{06FDBB3A-1E56-4054-A482-5A48410E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667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帮助使用者理解同一套制作规则</a:t>
            </a:r>
          </a:p>
        </p:txBody>
      </p:sp>
      <p:sp>
        <p:nvSpPr>
          <p:cNvPr id="7" name="language-accent">
            <a:extLst xmlns:a="http://schemas.openxmlformats.org/drawingml/2006/main">
              <a:ext uri="{FF2B5EF4-FFF2-40B4-BE49-F238E27FC236}">
                <a16:creationId xmlns:a16="http://schemas.microsoft.com/office/drawing/2014/main" id="{971AEB4A-8E1A-44C5-97A4-2A348FDF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600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nguage-rule-0">
            <a:extLst xmlns:a="http://schemas.openxmlformats.org/drawingml/2006/main">
              <a:ext uri="{FF2B5EF4-FFF2-40B4-BE49-F238E27FC236}">
                <a16:creationId xmlns:a16="http://schemas.microsoft.com/office/drawing/2014/main" id="{4A4AFC3C-DA82-44BB-A34E-F3B33E59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先确定成品语言</a:t>
            </a:r>
          </a:p>
        </p:txBody>
      </p:sp>
      <p:sp>
        <p:nvSpPr>
          <p:cNvPr id="9" name="language-copy-0">
            <a:extLst xmlns:a="http://schemas.openxmlformats.org/drawingml/2006/main">
              <a:ext uri="{FF2B5EF4-FFF2-40B4-BE49-F238E27FC236}">
                <a16:creationId xmlns:a16="http://schemas.microsoft.com/office/drawing/2014/main" id="{5FA52190-7DF3-4A25-BADA-E4A46A9F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使用用户明确指定的语言。未指定时，跟随请求和主要资料。</a:t>
            </a:r>
          </a:p>
        </p:txBody>
      </p:sp>
      <p:sp>
        <p:nvSpPr>
          <p:cNvPr id="10" name="language-rule-1">
            <a:extLst xmlns:a="http://schemas.openxmlformats.org/drawingml/2006/main">
              <a:ext uri="{FF2B5EF4-FFF2-40B4-BE49-F238E27FC236}">
                <a16:creationId xmlns:a16="http://schemas.microsoft.com/office/drawing/2014/main" id="{ADA128C8-0011-4FB8-BD62-8804F1A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默认保持单语</a:t>
            </a:r>
          </a:p>
        </p:txBody>
      </p:sp>
      <p:sp>
        <p:nvSpPr>
          <p:cNvPr id="11" name="language-copy-1">
            <a:extLst xmlns:a="http://schemas.openxmlformats.org/drawingml/2006/main">
              <a:ext uri="{FF2B5EF4-FFF2-40B4-BE49-F238E27FC236}">
                <a16:creationId xmlns:a16="http://schemas.microsoft.com/office/drawing/2014/main" id="{934B1D93-3872-4D3A-B8C3-7546B8E5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不自动添加译文、双语副标题或第二语言正文。</a:t>
            </a:r>
          </a:p>
        </p:txBody>
      </p:sp>
      <p:sp>
        <p:nvSpPr>
          <p:cNvPr id="12" name="language-rule-2">
            <a:extLst xmlns:a="http://schemas.openxmlformats.org/drawingml/2006/main">
              <a:ext uri="{FF2B5EF4-FFF2-40B4-BE49-F238E27FC236}">
                <a16:creationId xmlns:a16="http://schemas.microsoft.com/office/drawing/2014/main" id="{A227F940-3212-484F-8C8E-2291958C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双语需要明确要求</a:t>
            </a:r>
          </a:p>
        </p:txBody>
      </p:sp>
      <p:sp>
        <p:nvSpPr>
          <p:cNvPr id="13" name="language-copy-2">
            <a:extLst xmlns:a="http://schemas.openxmlformats.org/drawingml/2006/main">
              <a:ext uri="{FF2B5EF4-FFF2-40B4-BE49-F238E27FC236}">
                <a16:creationId xmlns:a16="http://schemas.microsoft.com/office/drawing/2014/main" id="{2AABBAF0-2418-43A7-A38F-0C9B5356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收到双语要求后，再规划主次层级、术语和版面预算。</a:t>
            </a:r>
          </a:p>
        </p:txBody>
      </p:sp>
    </p:spTree>
    <p:extLst>
      <p:ext uri="{BB962C8B-B14F-4D97-AF65-F5344CB8AC3E}">
        <p14:creationId xmlns:p14="http://schemas.microsoft.com/office/powerpoint/2010/main" val="5193806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9">
            <a:extLst xmlns:a="http://schemas.openxmlformats.org/drawingml/2006/main">
              <a:ext uri="{FF2B5EF4-FFF2-40B4-BE49-F238E27FC236}">
                <a16:creationId xmlns:a16="http://schemas.microsoft.com/office/drawing/2014/main" id="{2108477F-0A9A-4B78-B790-11C4B57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本演示按同一流程制作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7B588C93-5B47-43CA-A260-40372EF4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26" name="trace-line"/>
          <p:cNvCxnSpPr/>
          <p:nvPr/>
        </p:nvCxnSpPr>
        <p:spPr>
          <a:xfrm xmlns:a="http://schemas.openxmlformats.org/drawingml/2006/main">
            <a:off x="533400" y="31051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trace-dot-0">
            <a:extLst xmlns:a="http://schemas.openxmlformats.org/drawingml/2006/main">
              <a:ext uri="{FF2B5EF4-FFF2-40B4-BE49-F238E27FC236}">
                <a16:creationId xmlns:a16="http://schemas.microsoft.com/office/drawing/2014/main" id="{7838BFC5-62A7-4B6B-B8D5-F054600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ace-label-0">
            <a:extLst xmlns:a="http://schemas.openxmlformats.org/drawingml/2006/main">
              <a:ext uri="{FF2B5EF4-FFF2-40B4-BE49-F238E27FC236}">
                <a16:creationId xmlns:a16="http://schemas.microsoft.com/office/drawing/2014/main" id="{A9741201-3D62-43A1-88ED-8801E632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大纲</a:t>
            </a:r>
          </a:p>
        </p:txBody>
      </p:sp>
      <p:sp>
        <p:nvSpPr>
          <p:cNvPr id="6" name="trace-title-0">
            <a:extLst xmlns:a="http://schemas.openxmlformats.org/drawingml/2006/main">
              <a:ext uri="{FF2B5EF4-FFF2-40B4-BE49-F238E27FC236}">
                <a16:creationId xmlns:a16="http://schemas.microsoft.com/office/drawing/2014/main" id="{9429001E-1034-4FF5-A0C3-9AC246D4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955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大纲与证据</a:t>
            </a:r>
          </a:p>
        </p:txBody>
      </p:sp>
      <p:sp>
        <p:nvSpPr>
          <p:cNvPr id="7" name="trace-main-0">
            <a:extLst xmlns:a="http://schemas.openxmlformats.org/drawingml/2006/main">
              <a:ext uri="{FF2B5EF4-FFF2-40B4-BE49-F238E27FC236}">
                <a16:creationId xmlns:a16="http://schemas.microsoft.com/office/drawing/2014/main" id="{B6859774-F262-4D4D-A0E3-A4F4F65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8550"/>
            <a:ext cx="2381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 页叙事
与来源对应</a:t>
            </a:r>
          </a:p>
        </p:txBody>
      </p:sp>
      <p:sp>
        <p:nvSpPr>
          <p:cNvPr id="8" name="trace-detail-0">
            <a:extLst xmlns:a="http://schemas.openxmlformats.org/drawingml/2006/main">
              <a:ext uri="{FF2B5EF4-FFF2-40B4-BE49-F238E27FC236}">
                <a16:creationId xmlns:a16="http://schemas.microsoft.com/office/drawing/2014/main" id="{3C53F424-D7C4-490A-9894-00743514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529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先确定内容关系</a:t>
            </a:r>
          </a:p>
        </p:txBody>
      </p:sp>
      <p:sp>
        <p:nvSpPr>
          <p:cNvPr id="9" name="trace-dot-1">
            <a:extLst xmlns:a="http://schemas.openxmlformats.org/drawingml/2006/main">
              <a:ext uri="{FF2B5EF4-FFF2-40B4-BE49-F238E27FC236}">
                <a16:creationId xmlns:a16="http://schemas.microsoft.com/office/drawing/2014/main" id="{D9BC5A55-04A2-4EBF-83EB-3C34401F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ace-label-1">
            <a:extLst xmlns:a="http://schemas.openxmlformats.org/drawingml/2006/main">
              <a:ext uri="{FF2B5EF4-FFF2-40B4-BE49-F238E27FC236}">
                <a16:creationId xmlns:a16="http://schemas.microsoft.com/office/drawing/2014/main" id="{053F4906-82B5-4EE4-9F19-551536CA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145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视觉</a:t>
            </a:r>
          </a:p>
        </p:txBody>
      </p:sp>
      <p:sp>
        <p:nvSpPr>
          <p:cNvPr id="11" name="trace-title-1">
            <a:extLst xmlns:a="http://schemas.openxmlformats.org/drawingml/2006/main">
              <a:ext uri="{FF2B5EF4-FFF2-40B4-BE49-F238E27FC236}">
                <a16:creationId xmlns:a16="http://schemas.microsoft.com/office/drawing/2014/main" id="{80B35444-605A-4C1D-A3D8-E638686B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配图与样张</a:t>
            </a:r>
          </a:p>
        </p:txBody>
      </p:sp>
      <p:sp>
        <p:nvSpPr>
          <p:cNvPr id="12" name="trace-main-1">
            <a:extLst xmlns:a="http://schemas.openxmlformats.org/drawingml/2006/main">
              <a:ext uri="{FF2B5EF4-FFF2-40B4-BE49-F238E27FC236}">
                <a16:creationId xmlns:a16="http://schemas.microsoft.com/office/drawing/2014/main" id="{C629F6DB-1DE1-4891-95B3-0B3C53A0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38550"/>
            <a:ext cx="2381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 张生成图
服务页面任务</a:t>
            </a:r>
          </a:p>
        </p:txBody>
      </p:sp>
      <p:sp>
        <p:nvSpPr>
          <p:cNvPr id="13" name="trace-detail-1">
            <a:extLst xmlns:a="http://schemas.openxmlformats.org/drawingml/2006/main">
              <a:ext uri="{FF2B5EF4-FFF2-40B4-BE49-F238E27FC236}">
                <a16:creationId xmlns:a16="http://schemas.microsoft.com/office/drawing/2014/main" id="{65EE5CC3-D45D-46BA-B0B9-ED229999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529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先审查代表素材</a:t>
            </a:r>
          </a:p>
        </p:txBody>
      </p:sp>
      <p:sp>
        <p:nvSpPr>
          <p:cNvPr id="14" name="trace-dot-2">
            <a:extLst xmlns:a="http://schemas.openxmlformats.org/drawingml/2006/main">
              <a:ext uri="{FF2B5EF4-FFF2-40B4-BE49-F238E27FC236}">
                <a16:creationId xmlns:a16="http://schemas.microsoft.com/office/drawing/2014/main" id="{5B55EE53-7A2C-4F9C-8A82-2A814C2D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ce-label-2">
            <a:extLst xmlns:a="http://schemas.openxmlformats.org/drawingml/2006/main">
              <a:ext uri="{FF2B5EF4-FFF2-40B4-BE49-F238E27FC236}">
                <a16:creationId xmlns:a16="http://schemas.microsoft.com/office/drawing/2014/main" id="{D3ABE638-1CD0-454C-80D9-55C69950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145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</a:t>
            </a:r>
          </a:p>
        </p:txBody>
      </p:sp>
      <p:sp>
        <p:nvSpPr>
          <p:cNvPr id="16" name="trace-title-2">
            <a:extLst xmlns:a="http://schemas.openxmlformats.org/drawingml/2006/main">
              <a:ext uri="{FF2B5EF4-FFF2-40B4-BE49-F238E27FC236}">
                <a16:creationId xmlns:a16="http://schemas.microsoft.com/office/drawing/2014/main" id="{0CE14C2D-CD9E-40A6-9DDC-B4F3548D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955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排版与生成</a:t>
            </a:r>
          </a:p>
        </p:txBody>
      </p:sp>
      <p:sp>
        <p:nvSpPr>
          <p:cNvPr id="17" name="trace-main-2">
            <a:extLst xmlns:a="http://schemas.openxmlformats.org/drawingml/2006/main">
              <a:ext uri="{FF2B5EF4-FFF2-40B4-BE49-F238E27FC236}">
                <a16:creationId xmlns:a16="http://schemas.microsoft.com/office/drawing/2014/main" id="{35EAF909-F0AB-4A3F-8ABD-ACE98A6B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638550"/>
            <a:ext cx="2381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可编辑文字
统一视觉系统</a:t>
            </a:r>
          </a:p>
        </p:txBody>
      </p:sp>
      <p:sp>
        <p:nvSpPr>
          <p:cNvPr id="18" name="trace-detail-2">
            <a:extLst xmlns:a="http://schemas.openxmlformats.org/drawingml/2006/main">
              <a:ext uri="{FF2B5EF4-FFF2-40B4-BE49-F238E27FC236}">
                <a16:creationId xmlns:a16="http://schemas.microsoft.com/office/drawing/2014/main" id="{A81BBC9E-BA78-47CE-998F-835781CB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529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落实已确认方案</a:t>
            </a:r>
          </a:p>
        </p:txBody>
      </p:sp>
      <p:sp>
        <p:nvSpPr>
          <p:cNvPr id="19" name="trace-dot-3">
            <a:extLst xmlns:a="http://schemas.openxmlformats.org/drawingml/2006/main">
              <a:ext uri="{FF2B5EF4-FFF2-40B4-BE49-F238E27FC236}">
                <a16:creationId xmlns:a16="http://schemas.microsoft.com/office/drawing/2014/main" id="{D5DF2BCB-5F7F-4BC4-935D-7FCE4309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race-label-3">
            <a:extLst xmlns:a="http://schemas.openxmlformats.org/drawingml/2006/main">
              <a:ext uri="{FF2B5EF4-FFF2-40B4-BE49-F238E27FC236}">
                <a16:creationId xmlns:a16="http://schemas.microsoft.com/office/drawing/2014/main" id="{C7C66C42-4040-4ADD-869E-0C523FD4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验收</a:t>
            </a:r>
          </a:p>
        </p:txBody>
      </p:sp>
      <p:sp>
        <p:nvSpPr>
          <p:cNvPr id="21" name="trace-title-3">
            <a:extLst xmlns:a="http://schemas.openxmlformats.org/drawingml/2006/main">
              <a:ext uri="{FF2B5EF4-FFF2-40B4-BE49-F238E27FC236}">
                <a16:creationId xmlns:a16="http://schemas.microsoft.com/office/drawing/2014/main" id="{745D4B70-7A1A-437D-9502-CDD701D4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渲染与检查</a:t>
            </a:r>
          </a:p>
        </p:txBody>
      </p:sp>
      <p:sp>
        <p:nvSpPr>
          <p:cNvPr id="22" name="trace-main-3">
            <a:extLst xmlns:a="http://schemas.openxmlformats.org/drawingml/2006/main">
              <a:ext uri="{FF2B5EF4-FFF2-40B4-BE49-F238E27FC236}">
                <a16:creationId xmlns:a16="http://schemas.microsoft.com/office/drawing/2014/main" id="{A5362AFE-62EC-45F9-A769-AE848B91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381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逐页检查
修复后再渲染</a:t>
            </a:r>
          </a:p>
        </p:txBody>
      </p:sp>
      <p:sp>
        <p:nvSpPr>
          <p:cNvPr id="23" name="trace-detail-3">
            <a:extLst xmlns:a="http://schemas.openxmlformats.org/drawingml/2006/main">
              <a:ext uri="{FF2B5EF4-FFF2-40B4-BE49-F238E27FC236}">
                <a16:creationId xmlns:a16="http://schemas.microsoft.com/office/drawing/2014/main" id="{6F448508-DDE4-4AF6-A016-6545162A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529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交付可用文件</a:t>
            </a:r>
          </a:p>
        </p:txBody>
      </p:sp>
    </p:spTree>
    <p:extLst>
      <p:ext uri="{BB962C8B-B14F-4D97-AF65-F5344CB8AC3E}">
        <p14:creationId xmlns:p14="http://schemas.microsoft.com/office/powerpoint/2010/main" val="20365125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5C5EF186-E42B-4CCB-86BA-2F75F495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PPT Craft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22096AA0-3B19-47A2-A28F-F9163112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9715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每一步可追溯，
成品才可交付</a:t>
            </a:r>
          </a:p>
        </p:txBody>
      </p:sp>
      <p:sp>
        <p:nvSpPr>
          <p:cNvPr id="3" name="closing-summary">
            <a:extLst xmlns:a="http://schemas.openxmlformats.org/drawingml/2006/main">
              <a:ext uri="{FF2B5EF4-FFF2-40B4-BE49-F238E27FC236}">
                <a16:creationId xmlns:a16="http://schemas.microsoft.com/office/drawing/2014/main" id="{D51EA183-DD01-41F7-BDFC-F2814BE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8550"/>
            <a:ext cx="971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把内容、来源、视觉和检查记录连接起来</a:t>
            </a:r>
          </a:p>
        </p:txBody>
      </p:sp>
      <p:sp>
        <p:nvSpPr>
          <p:cNvPr id="4" name="closing-deliver">
            <a:extLst xmlns:a="http://schemas.openxmlformats.org/drawingml/2006/main">
              <a:ext uri="{FF2B5EF4-FFF2-40B4-BE49-F238E27FC236}">
                <a16:creationId xmlns:a16="http://schemas.microsoft.com/office/drawing/2014/main" id="{E40C79E5-51E6-4E53-9271-BD41A22B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可编辑 PPTX · 中文内容 · 来源记录 · 渲染检查</a:t>
            </a:r>
          </a:p>
        </p:txBody>
      </p:sp>
      <p:sp>
        <p:nvSpPr>
          <p:cNvPr id="5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D1F69CEC-1FAF-42EF-8065-C1C0E51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6" name="github-link">
            <a:extLst xmlns:a="http://schemas.openxmlformats.org/drawingml/2006/main">
              <a:ext uri="{FF2B5EF4-FFF2-40B4-BE49-F238E27FC236}">
                <a16:creationId xmlns:a16="http://schemas.microsoft.com/office/drawing/2014/main" id="{40917012-BB07-487D-84F0-563FB1F4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43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3D8D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7eea725abf49ca"/>
              </a:rPr>
              <a:t>github.com/wenkai20070617-cell/ppt-craft</a:t>
            </a:r>
          </a:p>
        </p:txBody>
      </p:sp>
    </p:spTree>
    <p:extLst>
      <p:ext uri="{BB962C8B-B14F-4D97-AF65-F5344CB8AC3E}">
        <p14:creationId xmlns:p14="http://schemas.microsoft.com/office/powerpoint/2010/main" val="1113835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2026-07-20T09:17:14.9450000Z</dcterms:created>
  <dcterms:modified xsi:type="dcterms:W3CDTF">2026-07-20T09:17:14.9450000Z</dcterms:modified>
</coreProperties>
</file>
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ef1c96258d4975" /><Relationship Type="http://schemas.openxmlformats.org/officeDocument/2006/relationships/extended-properties" Target="/docProps/app.xml" Id="Rfe1fb1394a97496f" /><Relationship Type="http://schemas.openxmlformats.org/officeDocument/2006/relationships/officeDocument" Target="/ppt/presentation.xml" Id="R59e0ca80db444d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2082459624651"/>
  </p:sldMasterIdLst>
  <p:notesMasterIdLst>
    <p:notesMasterId xmlns:r="http://schemas.openxmlformats.org/officeDocument/2006/relationships" r:id="R46d14839e47f4976"/>
  </p:notesMasterIdLst>
  <p:sldIdLst>
    <p:sldId xmlns:r="http://schemas.openxmlformats.org/officeDocument/2006/relationships" id="256" r:id="Rcf71c2a8427a4673"/>
    <p:sldId xmlns:r="http://schemas.openxmlformats.org/officeDocument/2006/relationships" id="257" r:id="R921f66771ef340c9"/>
    <p:sldId xmlns:r="http://schemas.openxmlformats.org/officeDocument/2006/relationships" id="258" r:id="Re28d28d347214d67"/>
    <p:sldId xmlns:r="http://schemas.openxmlformats.org/officeDocument/2006/relationships" id="259" r:id="Re8c1bc0f293941c1"/>
    <p:sldId xmlns:r="http://schemas.openxmlformats.org/officeDocument/2006/relationships" id="260" r:id="R116e5a7d55a34be4"/>
    <p:sldId xmlns:r="http://schemas.openxmlformats.org/officeDocument/2006/relationships" id="261" r:id="Ra4f19e0035f14d5e"/>
    <p:sldId xmlns:r="http://schemas.openxmlformats.org/officeDocument/2006/relationships" id="262" r:id="Rb194112427ac4d9f"/>
    <p:sldId xmlns:r="http://schemas.openxmlformats.org/officeDocument/2006/relationships" id="263" r:id="Re0e88687c81b4b2f"/>
    <p:sldId xmlns:r="http://schemas.openxmlformats.org/officeDocument/2006/relationships" id="264" r:id="R786f3ce9c5f6468a"/>
    <p:sldId xmlns:r="http://schemas.openxmlformats.org/officeDocument/2006/relationships" id="265" r:id="R7447fc26d68d43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b0bf062354f9e" /><Relationship Type="http://schemas.openxmlformats.org/officeDocument/2006/relationships/slideMaster" Target="/ppt/slideMasters/slideMaster1.xml" Id="R0402082459624651" /><Relationship Type="http://schemas.openxmlformats.org/officeDocument/2006/relationships/notesMaster" Target="/ppt/notesMasters/notesMaster1.xml" Id="R46d14839e47f4976" /><Relationship Type="http://schemas.openxmlformats.org/officeDocument/2006/relationships/presProps" Target="/ppt/presProps.xml" Id="R51397907c94140cf" /><Relationship Type="http://schemas.openxmlformats.org/officeDocument/2006/relationships/tableStyles" Target="/ppt/tableStyles.xml" Id="R0631c2cf80c04b66" /><Relationship Type="http://schemas.openxmlformats.org/officeDocument/2006/relationships/slide" Target="/ppt/slides/slide1.xml" Id="Rcf71c2a8427a4673" /><Relationship Type="http://schemas.openxmlformats.org/officeDocument/2006/relationships/slide" Target="/ppt/slides/slide2.xml" Id="R921f66771ef340c9" /><Relationship Type="http://schemas.openxmlformats.org/officeDocument/2006/relationships/slide" Target="/ppt/slides/slide3.xml" Id="Re28d28d347214d67" /><Relationship Type="http://schemas.openxmlformats.org/officeDocument/2006/relationships/slide" Target="/ppt/slides/slide4.xml" Id="Re8c1bc0f293941c1" /><Relationship Type="http://schemas.openxmlformats.org/officeDocument/2006/relationships/slide" Target="/ppt/slides/slide5.xml" Id="R116e5a7d55a34be4" /><Relationship Type="http://schemas.openxmlformats.org/officeDocument/2006/relationships/slide" Target="/ppt/slides/slide6.xml" Id="Ra4f19e0035f14d5e" /><Relationship Type="http://schemas.openxmlformats.org/officeDocument/2006/relationships/slide" Target="/ppt/slides/slide7.xml" Id="Rb194112427ac4d9f" /><Relationship Type="http://schemas.openxmlformats.org/officeDocument/2006/relationships/slide" Target="/ppt/slides/slide8.xml" Id="Re0e88687c81b4b2f" /><Relationship Type="http://schemas.openxmlformats.org/officeDocument/2006/relationships/slide" Target="/ppt/slides/slide9.xml" Id="R786f3ce9c5f6468a" /><Relationship Type="http://schemas.openxmlformats.org/officeDocument/2006/relationships/slide" Target="/ppt/slides/slide10.xml" Id="R7447fc26d68d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70ee718d943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85ffa06e74d59" /><Relationship Type="http://schemas.openxmlformats.org/officeDocument/2006/relationships/notesMaster" Target="/ppt/notesMasters/notesMaster1.xml" Id="Re2127fc22b1642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0486ce4a804369" /><Relationship Type="http://schemas.openxmlformats.org/officeDocument/2006/relationships/notesMaster" Target="/ppt/notesMasters/notesMaster1.xml" Id="R483dfdab966147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44abb5851943b2" /><Relationship Type="http://schemas.openxmlformats.org/officeDocument/2006/relationships/notesMaster" Target="/ppt/notesMasters/notesMaster1.xml" Id="Rac0c30967bc94d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7f8ce780c34892" /><Relationship Type="http://schemas.openxmlformats.org/officeDocument/2006/relationships/notesMaster" Target="/ppt/notesMasters/notesMaster1.xml" Id="Rd55bcde723cb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5eb86952a946d5" /><Relationship Type="http://schemas.openxmlformats.org/officeDocument/2006/relationships/notesMaster" Target="/ppt/notesMasters/notesMaster1.xml" Id="R50bc457f73074b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c9adf7879240ed" /><Relationship Type="http://schemas.openxmlformats.org/officeDocument/2006/relationships/notesMaster" Target="/ppt/notesMasters/notesMaster1.xml" Id="R9a23e17afc9a49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b90e707cce4f26" /><Relationship Type="http://schemas.openxmlformats.org/officeDocument/2006/relationships/notesMaster" Target="/ppt/notesMasters/notesMaster1.xml" Id="Rad7d144ac885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952f105a46485f" /><Relationship Type="http://schemas.openxmlformats.org/officeDocument/2006/relationships/notesMaster" Target="/ppt/notesMasters/notesMaster1.xml" Id="Ra41f788f87ea48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087dfaa2a149cf" /><Relationship Type="http://schemas.openxmlformats.org/officeDocument/2006/relationships/notesMaster" Target="/ppt/notesMasters/notesMaster1.xml" Id="R595d2109cb114b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df16cc9f9540b9" /><Relationship Type="http://schemas.openxmlformats.org/officeDocument/2006/relationships/notesMaster" Target="/ppt/notesMasters/notesMaster1.xml" Id="Re29c3b83ed1d4f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这是一份用 PPT Craft 自身流程制作的双语示例。</a:t>
            </a:r>
          </a:p>
          <a:p xmlns:a="http://schemas.openxmlformats.org/drawingml/2006/main">
            <a:r>
              <a:t>This bilingual example was produced with the PPT Craft workflow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先控制内容，再控制视觉，最后控制文件质量。</a:t>
            </a:r>
          </a:p>
          <a:p xmlns:a="http://schemas.openxmlformats.org/drawingml/2006/main">
            <a:r>
              <a:t>The workflow connects content, visual evidence, and delivery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大纲完成后先优化结构，再补齐事实和来源。</a:t>
            </a:r>
          </a:p>
          <a:p xmlns:a="http://schemas.openxmlformats.org/drawingml/2006/main">
            <a:r>
              <a:t>Refine the narrative before enriching it with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生成图只补充缺失的表达，不替代精确数据和可编辑文字。</a:t>
            </a:r>
          </a:p>
          <a:p xmlns:a="http://schemas.openxmlformats.org/drawingml/2006/main">
            <a:r>
              <a:t>Generated imagery fills genuine visual gaps; precise data and editable copy remain native.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制作发生在内容、素材和排版决定之后。</a:t>
            </a:r>
          </a:p>
          <a:p xmlns:a="http://schemas.openxmlformats.org/drawingml/2006/main">
            <a:r>
              <a:t>Production starts after content, assets, and layout decisions are 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这些理论提供条件化设计指导，不保证某一种版式适合所有场景。</a:t>
            </a:r>
          </a:p>
          <a:p xmlns:a="http://schemas.openxmlformats.org/drawingml/2006/main">
            <a:r>
              <a:t>These theories provide conditional guidance; they do not guarantee one layout for every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仓库提供工程案例，理论结论仍回到原始研究来源。</a:t>
            </a:r>
          </a:p>
          <a:p xmlns:a="http://schemas.openxmlformats.org/drawingml/2006/main">
            <a:r>
              <a:t>GitHub repositories provide implementation examples; theoretical claims still rely on original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双语支持体现在信息层级、术语一致和版面预算中。</a:t>
            </a:r>
          </a:p>
          <a:p xmlns:a="http://schemas.openxmlformats.org/drawingml/2006/main">
            <a:r>
              <a:t>Bilingual support is implemented through hierarchy, terminology consistency, and layout budgeting.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这页记录示例的实际工作链路，不加入未经验证的性能数据。</a:t>
            </a:r>
          </a:p>
          <a:p xmlns:a="http://schemas.openxmlformats.org/drawingml/2006/main">
            <a:r>
              <a:t>This slide records the actual production chain without inventing performance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交付标准包括可用文件与检查证据。</a:t>
            </a:r>
          </a:p>
          <a:p xmlns:a="http://schemas.openxmlformats.org/drawingml/2006/main">
            <a:r>
              <a:t>Delivery includes both a usable file and evidence of completed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16da1638845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1c71b02a34152" /><Relationship Type="http://schemas.openxmlformats.org/officeDocument/2006/relationships/slideLayout" Target="/ppt/slideLayouts/slideLayout1.xml" Id="R196a5a5e5d11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a5a5e5d11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12cc689bc4b87" /><Relationship Type="http://schemas.openxmlformats.org/officeDocument/2006/relationships/image" Target="/ppt/media/image.png" Id="R6a45e1519d8b47d4" /><Relationship Type="http://schemas.openxmlformats.org/officeDocument/2006/relationships/notesSlide" Target="/ppt/notesSlides/notesSlide1.xml" Id="R37c38d3565da48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b22e3a7c34b21" /><Relationship Type="http://schemas.openxmlformats.org/officeDocument/2006/relationships/notesSlide" Target="/ppt/notesSlides/notesSlide2.xml" Id="Rd56706c170f4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026d0846a4471" /><Relationship Type="http://schemas.openxmlformats.org/officeDocument/2006/relationships/notesSlide" Target="/ppt/notesSlides/notesSlide3.xml" Id="Rbab4daa13c6d48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4d31f84f4ee1" /><Relationship Type="http://schemas.openxmlformats.org/officeDocument/2006/relationships/notesSlide" Target="/ppt/notesSlides/notesSlide4.xml" Id="R978deed1d7e0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e7916a35c48d1" /><Relationship Type="http://schemas.openxmlformats.org/officeDocument/2006/relationships/notesSlide" Target="/ppt/notesSlides/notesSlide5.xml" Id="R3d419475b1c4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13ef3e1f744c5" /><Relationship Type="http://schemas.openxmlformats.org/officeDocument/2006/relationships/notesSlide" Target="/ppt/notesSlides/notesSlide6.xml" Id="Rae1b99d856c8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608c37a0d4e7f" /><Relationship Type="http://schemas.openxmlformats.org/officeDocument/2006/relationships/notesSlide" Target="/ppt/notesSlides/notesSlide7.xml" Id="R41535673968748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0ff0097d446cc" /><Relationship Type="http://schemas.openxmlformats.org/officeDocument/2006/relationships/notesSlide" Target="/ppt/notesSlides/notesSlide8.xml" Id="Rf3a34e6aca15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91d0580c2402d" /><Relationship Type="http://schemas.openxmlformats.org/officeDocument/2006/relationships/notesSlide" Target="/ppt/notesSlides/notesSlide9.xml" Id="R7e454dd6200b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d1e80b4da4aa9" /><Relationship Type="http://schemas.openxmlformats.org/officeDocument/2006/relationships/hyperlink" Target="https://github.com/wenkai20070617-cell/ppt-craft" TargetMode="External" Id="R393b2cdff13d4358" /><Relationship Type="http://schemas.openxmlformats.org/officeDocument/2006/relationships/notesSlide" Target="/ppt/notesSlides/notesSlide10.xml" Id="Re67048e94e7643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E5C5C6BC-E968-46AA-8065-84D85FA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cover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5e1519d8b47d4"/>
          <a:srcRect xmlns:a="http://schemas.openxmlformats.org/drawingml/2006/main" l="13291" t="0" r="132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924550" cy="6457950"/>
          </a:xfrm>
          <a:prstGeom xmlns:a="http://schemas.openxmlformats.org/drawingml/2006/main" prst="roundRect">
            <a:avLst>
              <a:gd name="adj" fmla="val 2894"/>
            </a:avLst>
          </a:prstGeom>
        </p:spPr>
      </p:pic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AAB1C37-C6FC-46B2-8034-2B68475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PPT Craft</a:t>
            </a:r>
          </a:p>
        </p:txBody>
      </p:sp>
      <p:sp>
        <p:nvSpPr>
          <p:cNvPr id="4" name="cover-title-zh">
            <a:extLst xmlns:a="http://schemas.openxmlformats.org/drawingml/2006/main">
              <a:ext uri="{FF2B5EF4-FFF2-40B4-BE49-F238E27FC236}">
                <a16:creationId xmlns:a16="http://schemas.microsoft.com/office/drawing/2014/main" id="{56EA5B03-B16D-49EF-BF75-A8E4B568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5334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从需求到
可验收演示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4088FAC4-6949-4B69-A723-9A8CE2AE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533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From brief to a
checked presentation</a:t>
            </a:r>
          </a:p>
        </p:txBody>
      </p:sp>
      <p:sp>
        <p:nvSpPr>
          <p:cNvPr id="6" name="cover-sub-zh">
            <a:extLst xmlns:a="http://schemas.openxmlformats.org/drawingml/2006/main">
              <a:ext uri="{FF2B5EF4-FFF2-40B4-BE49-F238E27FC236}">
                <a16:creationId xmlns:a16="http://schemas.microsoft.com/office/drawing/2014/main" id="{5C9386B5-6C12-4883-81D3-C9D1B7B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大纲 · 证据 · 配图 · 排版 · 渲染 QA</a:t>
            </a:r>
          </a:p>
        </p:txBody>
      </p:sp>
      <p:sp>
        <p:nvSpPr>
          <p:cNvPr id="7" name="cover-sub-en">
            <a:extLst xmlns:a="http://schemas.openxmlformats.org/drawingml/2006/main">
              <a:ext uri="{FF2B5EF4-FFF2-40B4-BE49-F238E27FC236}">
                <a16:creationId xmlns:a16="http://schemas.microsoft.com/office/drawing/2014/main" id="{3B9D959A-5123-48E1-B5EA-11F4637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Outline · Evidence · Visuals · Layout · Rendered QA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B0A6EF1-18CB-405B-A82C-879A8CC6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双语示例 / Bilingual demo</a:t>
            </a:r>
          </a:p>
        </p:txBody>
      </p:sp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74EDFC2E-AC8C-48FB-B229-B3C6A25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1867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zh-2">
            <a:extLst xmlns:a="http://schemas.openxmlformats.org/drawingml/2006/main">
              <a:ext uri="{FF2B5EF4-FFF2-40B4-BE49-F238E27FC236}">
                <a16:creationId xmlns:a16="http://schemas.microsoft.com/office/drawing/2014/main" id="{8FD1AC69-4597-46B8-A7A4-F8B77A8A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好演示来自一条可控链路</a:t>
            </a:r>
          </a:p>
        </p:txBody>
      </p:sp>
      <p:sp>
        <p:nvSpPr>
          <p:cNvPr id="2" name="title-en-2">
            <a:extLst xmlns:a="http://schemas.openxmlformats.org/drawingml/2006/main">
              <a:ext uri="{FF2B5EF4-FFF2-40B4-BE49-F238E27FC236}">
                <a16:creationId xmlns:a16="http://schemas.microsoft.com/office/drawing/2014/main" id="{E7E5238C-F7F6-41B3-956B-EAE543A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A good deck is a controlled chain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24AA8350-8A3A-4004-9EE7-3101FD9F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system-rule-0">
            <a:extLst xmlns:a="http://schemas.openxmlformats.org/drawingml/2006/main">
              <a:ext uri="{FF2B5EF4-FFF2-40B4-BE49-F238E27FC236}">
                <a16:creationId xmlns:a16="http://schemas.microsoft.com/office/drawing/2014/main" id="{00D74D86-D0A1-4488-9A6B-26ADE3BD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-no-0">
            <a:extLst xmlns:a="http://schemas.openxmlformats.org/drawingml/2006/main">
              <a:ext uri="{FF2B5EF4-FFF2-40B4-BE49-F238E27FC236}">
                <a16:creationId xmlns:a16="http://schemas.microsoft.com/office/drawing/2014/main" id="{1876E6FE-82F4-4F48-A3B6-5C1A234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114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system-title-0">
            <a:extLst xmlns:a="http://schemas.openxmlformats.org/drawingml/2006/main">
              <a:ext uri="{FF2B5EF4-FFF2-40B4-BE49-F238E27FC236}">
                <a16:creationId xmlns:a16="http://schemas.microsoft.com/office/drawing/2014/main" id="{81B182F7-0962-4A67-A597-02B0587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  CONTENT</a:t>
            </a:r>
          </a:p>
        </p:txBody>
      </p:sp>
      <p:sp>
        <p:nvSpPr>
          <p:cNvPr id="7" name="system-zh-0">
            <a:extLst xmlns:a="http://schemas.openxmlformats.org/drawingml/2006/main">
              <a:ext uri="{FF2B5EF4-FFF2-40B4-BE49-F238E27FC236}">
                <a16:creationId xmlns:a16="http://schemas.microsoft.com/office/drawing/2014/main" id="{7C47BF51-A456-4AD3-94C8-E6E7E6B5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0"/>
            <a:ext cx="3238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结论、论点与证据先形成可核验结构。</a:t>
            </a:r>
          </a:p>
        </p:txBody>
      </p:sp>
      <p:sp>
        <p:nvSpPr>
          <p:cNvPr id="8" name="system-en-0">
            <a:extLst xmlns:a="http://schemas.openxmlformats.org/drawingml/2006/main">
              <a:ext uri="{FF2B5EF4-FFF2-40B4-BE49-F238E27FC236}">
                <a16:creationId xmlns:a16="http://schemas.microsoft.com/office/drawing/2014/main" id="{86E649BE-C0C2-4173-B005-BF1E02F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3238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Shape the takeaway, claims, and evidence into an auditable structure.</a:t>
            </a:r>
          </a:p>
        </p:txBody>
      </p:sp>
      <p:sp>
        <p:nvSpPr>
          <p:cNvPr id="9" name="system-rule-1">
            <a:extLst xmlns:a="http://schemas.openxmlformats.org/drawingml/2006/main">
              <a:ext uri="{FF2B5EF4-FFF2-40B4-BE49-F238E27FC236}">
                <a16:creationId xmlns:a16="http://schemas.microsoft.com/office/drawing/2014/main" id="{A9623652-C79C-4164-9A73-C45BB77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ystem-no-1">
            <a:extLst xmlns:a="http://schemas.openxmlformats.org/drawingml/2006/main">
              <a:ext uri="{FF2B5EF4-FFF2-40B4-BE49-F238E27FC236}">
                <a16:creationId xmlns:a16="http://schemas.microsoft.com/office/drawing/2014/main" id="{51ABBD39-0E04-4F25-87C5-949C508A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114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system-title-1">
            <a:extLst xmlns:a="http://schemas.openxmlformats.org/drawingml/2006/main">
              <a:ext uri="{FF2B5EF4-FFF2-40B4-BE49-F238E27FC236}">
                <a16:creationId xmlns:a16="http://schemas.microsoft.com/office/drawing/2014/main" id="{A7939DD2-4254-4D94-BC31-3BFF87A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  VISUALS</a:t>
            </a:r>
          </a:p>
        </p:txBody>
      </p:sp>
      <p:sp>
        <p:nvSpPr>
          <p:cNvPr id="12" name="system-zh-1">
            <a:extLst xmlns:a="http://schemas.openxmlformats.org/drawingml/2006/main">
              <a:ext uri="{FF2B5EF4-FFF2-40B4-BE49-F238E27FC236}">
                <a16:creationId xmlns:a16="http://schemas.microsoft.com/office/drawing/2014/main" id="{9CD32AE2-702B-4829-A32B-1244E2E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238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每个图像和图表都有明确的表达任务。</a:t>
            </a:r>
          </a:p>
        </p:txBody>
      </p:sp>
      <p:sp>
        <p:nvSpPr>
          <p:cNvPr id="13" name="system-en-1">
            <a:extLst xmlns:a="http://schemas.openxmlformats.org/drawingml/2006/main">
              <a:ext uri="{FF2B5EF4-FFF2-40B4-BE49-F238E27FC236}">
                <a16:creationId xmlns:a16="http://schemas.microsoft.com/office/drawing/2014/main" id="{0F7978B7-8906-43C9-B5DD-F9D7FD80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3238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Give every image and chart a clear communication job.</a:t>
            </a:r>
          </a:p>
        </p:txBody>
      </p:sp>
      <p:sp>
        <p:nvSpPr>
          <p:cNvPr id="14" name="system-rule-2">
            <a:extLst xmlns:a="http://schemas.openxmlformats.org/drawingml/2006/main">
              <a:ext uri="{FF2B5EF4-FFF2-40B4-BE49-F238E27FC236}">
                <a16:creationId xmlns:a16="http://schemas.microsoft.com/office/drawing/2014/main" id="{1146CC21-F850-4F30-BC02-75ABD52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ystem-no-2">
            <a:extLst xmlns:a="http://schemas.openxmlformats.org/drawingml/2006/main">
              <a:ext uri="{FF2B5EF4-FFF2-40B4-BE49-F238E27FC236}">
                <a16:creationId xmlns:a16="http://schemas.microsoft.com/office/drawing/2014/main" id="{DDDDFC46-18AF-48D8-8288-9C68E99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114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6" name="system-title-2">
            <a:extLst xmlns:a="http://schemas.openxmlformats.org/drawingml/2006/main">
              <a:ext uri="{FF2B5EF4-FFF2-40B4-BE49-F238E27FC236}">
                <a16:creationId xmlns:a16="http://schemas.microsoft.com/office/drawing/2014/main" id="{7E8C7A39-B998-41A3-B8FD-90D6F8E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  DELIVERY</a:t>
            </a:r>
          </a:p>
        </p:txBody>
      </p:sp>
      <p:sp>
        <p:nvSpPr>
          <p:cNvPr id="17" name="system-zh-2">
            <a:extLst xmlns:a="http://schemas.openxmlformats.org/drawingml/2006/main">
              <a:ext uri="{FF2B5EF4-FFF2-40B4-BE49-F238E27FC236}">
                <a16:creationId xmlns:a16="http://schemas.microsoft.com/office/drawing/2014/main" id="{B2E3D143-5A1E-4802-85F2-2206AFC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238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文件、几何和渲染检查共同保证可用性。</a:t>
            </a:r>
          </a:p>
        </p:txBody>
      </p:sp>
      <p:sp>
        <p:nvSpPr>
          <p:cNvPr id="18" name="system-en-2">
            <a:extLst xmlns:a="http://schemas.openxmlformats.org/drawingml/2006/main">
              <a:ext uri="{FF2B5EF4-FFF2-40B4-BE49-F238E27FC236}">
                <a16:creationId xmlns:a16="http://schemas.microsoft.com/office/drawing/2014/main" id="{29E94FA7-A036-48AB-913E-53DC5518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238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Use file, geometry, and rendered checks to protect usability.</a:t>
            </a:r>
          </a:p>
        </p:txBody>
      </p:sp>
    </p:spTree>
    <p:extLst>
      <p:ext uri="{BB962C8B-B14F-4D97-AF65-F5344CB8AC3E}">
        <p14:creationId xmlns:p14="http://schemas.microsoft.com/office/powerpoint/2010/main" val="254227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zh-3">
            <a:extLst xmlns:a="http://schemas.openxmlformats.org/drawingml/2006/main">
              <a:ext uri="{FF2B5EF4-FFF2-40B4-BE49-F238E27FC236}">
                <a16:creationId xmlns:a16="http://schemas.microsoft.com/office/drawing/2014/main" id="{8FB75EC1-F32B-4E2A-A3C9-382C9193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步骤 1–3：先把论证做实</a:t>
            </a:r>
          </a:p>
        </p:txBody>
      </p:sp>
      <p:sp>
        <p:nvSpPr>
          <p:cNvPr id="2" name="title-en-3">
            <a:extLst xmlns:a="http://schemas.openxmlformats.org/drawingml/2006/main">
              <a:ext uri="{FF2B5EF4-FFF2-40B4-BE49-F238E27FC236}">
                <a16:creationId xmlns:a16="http://schemas.microsoft.com/office/drawing/2014/main" id="{9B9358C9-E600-4973-ACFB-6A482D96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Steps 1–3 make the argument auditable</a:t>
            </a:r>
          </a:p>
        </p:txBody>
      </p:sp>
      <p:sp>
        <p:nvSpPr>
          <p:cNvPr id="3" name="source-3">
            <a:extLst xmlns:a="http://schemas.openxmlformats.org/drawingml/2006/main">
              <a:ext uri="{FF2B5EF4-FFF2-40B4-BE49-F238E27FC236}">
                <a16:creationId xmlns:a16="http://schemas.microsoft.com/office/drawing/2014/main" id="{FE9BAA3C-D5B7-4618-A4F7-541DD85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Source: PPT Craft workflow / 来源：PPT Craft 工作流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2686C0C-023F-47BF-B7B7-096FDF1C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22" name="timeline-3"/>
          <p:cNvCxnSpPr/>
          <p:nvPr/>
        </p:nvCxnSpPr>
        <p:spPr>
          <a:xfrm xmlns:a="http://schemas.openxmlformats.org/drawingml/2006/main">
            <a:off x="390525" y="3105150"/>
            <a:ext cx="1140142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6" name="dot-3-0">
            <a:extLst xmlns:a="http://schemas.openxmlformats.org/drawingml/2006/main">
              <a:ext uri="{FF2B5EF4-FFF2-40B4-BE49-F238E27FC236}">
                <a16:creationId xmlns:a16="http://schemas.microsoft.com/office/drawing/2014/main" id="{561F7A33-098A-4613-8638-DF2E00F0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3-0">
            <a:extLst xmlns:a="http://schemas.openxmlformats.org/drawingml/2006/main">
              <a:ext uri="{FF2B5EF4-FFF2-40B4-BE49-F238E27FC236}">
                <a16:creationId xmlns:a16="http://schemas.microsoft.com/office/drawing/2014/main" id="{BC353AE5-F27D-40EB-8A29-E88D2BD9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  OUTLINE / 大纲</a:t>
            </a:r>
          </a:p>
        </p:txBody>
      </p:sp>
      <p:sp>
        <p:nvSpPr>
          <p:cNvPr id="8" name="stage-zh-3-0">
            <a:extLst xmlns:a="http://schemas.openxmlformats.org/drawingml/2006/main">
              <a:ext uri="{FF2B5EF4-FFF2-40B4-BE49-F238E27FC236}">
                <a16:creationId xmlns:a16="http://schemas.microsoft.com/office/drawing/2014/main" id="{0AC05F8F-9962-41CC-A8AF-C0DD03F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写清每页任务</a:t>
            </a:r>
          </a:p>
        </p:txBody>
      </p:sp>
      <p:sp>
        <p:nvSpPr>
          <p:cNvPr id="9" name="stage-en-3-0">
            <a:extLst xmlns:a="http://schemas.openxmlformats.org/drawingml/2006/main">
              <a:ext uri="{FF2B5EF4-FFF2-40B4-BE49-F238E27FC236}">
                <a16:creationId xmlns:a16="http://schemas.microsoft.com/office/drawing/2014/main" id="{C9EFE14A-228D-4613-AED1-2774431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Define the job and takeaway of every slide.</a:t>
            </a:r>
          </a:p>
        </p:txBody>
      </p:sp>
      <p:sp>
        <p:nvSpPr>
          <p:cNvPr id="10" name="dot-3-1">
            <a:extLst xmlns:a="http://schemas.openxmlformats.org/drawingml/2006/main">
              <a:ext uri="{FF2B5EF4-FFF2-40B4-BE49-F238E27FC236}">
                <a16:creationId xmlns:a16="http://schemas.microsoft.com/office/drawing/2014/main" id="{A58102AA-9767-4DEF-AEA0-92E14B65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3-1">
            <a:extLst xmlns:a="http://schemas.openxmlformats.org/drawingml/2006/main">
              <a:ext uri="{FF2B5EF4-FFF2-40B4-BE49-F238E27FC236}">
                <a16:creationId xmlns:a16="http://schemas.microsoft.com/office/drawing/2014/main" id="{18B1282F-0D7B-4221-923A-99941416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  REFINE / 优化</a:t>
            </a:r>
          </a:p>
        </p:txBody>
      </p:sp>
      <p:sp>
        <p:nvSpPr>
          <p:cNvPr id="12" name="stage-zh-3-1">
            <a:extLst xmlns:a="http://schemas.openxmlformats.org/drawingml/2006/main">
              <a:ext uri="{FF2B5EF4-FFF2-40B4-BE49-F238E27FC236}">
                <a16:creationId xmlns:a16="http://schemas.microsoft.com/office/drawing/2014/main" id="{D0D45DDE-9D4E-427A-BC83-F3529CC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修正顺序与缺口</a:t>
            </a:r>
          </a:p>
        </p:txBody>
      </p:sp>
      <p:sp>
        <p:nvSpPr>
          <p:cNvPr id="13" name="stage-en-3-1">
            <a:extLst xmlns:a="http://schemas.openxmlformats.org/drawingml/2006/main">
              <a:ext uri="{FF2B5EF4-FFF2-40B4-BE49-F238E27FC236}">
                <a16:creationId xmlns:a16="http://schemas.microsoft.com/office/drawing/2014/main" id="{7E8FBA98-757F-4F23-A1F2-F4B12407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Remove repetition and close logical gaps.</a:t>
            </a:r>
          </a:p>
        </p:txBody>
      </p:sp>
      <p:sp>
        <p:nvSpPr>
          <p:cNvPr id="14" name="dot-3-2">
            <a:extLst xmlns:a="http://schemas.openxmlformats.org/drawingml/2006/main">
              <a:ext uri="{FF2B5EF4-FFF2-40B4-BE49-F238E27FC236}">
                <a16:creationId xmlns:a16="http://schemas.microsoft.com/office/drawing/2014/main" id="{75C61A4A-9CEF-4660-9411-76BEEB9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3-2">
            <a:extLst xmlns:a="http://schemas.openxmlformats.org/drawingml/2006/main">
              <a:ext uri="{FF2B5EF4-FFF2-40B4-BE49-F238E27FC236}">
                <a16:creationId xmlns:a16="http://schemas.microsoft.com/office/drawing/2014/main" id="{5D99DF64-8120-46A5-B873-C9446451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  ENRICH / 丰富</a:t>
            </a:r>
          </a:p>
        </p:txBody>
      </p:sp>
      <p:sp>
        <p:nvSpPr>
          <p:cNvPr id="16" name="stage-zh-3-2">
            <a:extLst xmlns:a="http://schemas.openxmlformats.org/drawingml/2006/main">
              <a:ext uri="{FF2B5EF4-FFF2-40B4-BE49-F238E27FC236}">
                <a16:creationId xmlns:a16="http://schemas.microsoft.com/office/drawing/2014/main" id="{890F8A32-3C31-4BDC-B22A-7ABCC7BF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绑定主张与来源</a:t>
            </a:r>
          </a:p>
        </p:txBody>
      </p:sp>
      <p:sp>
        <p:nvSpPr>
          <p:cNvPr id="17" name="stage-en-3-2">
            <a:extLst xmlns:a="http://schemas.openxmlformats.org/drawingml/2006/main">
              <a:ext uri="{FF2B5EF4-FFF2-40B4-BE49-F238E27FC236}">
                <a16:creationId xmlns:a16="http://schemas.microsoft.com/office/drawing/2014/main" id="{D18C608E-F772-4F77-8424-FDF0282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Map every material claim to evidence and a source.</a:t>
            </a:r>
          </a:p>
        </p:txBody>
      </p:sp>
    </p:spTree>
    <p:extLst>
      <p:ext uri="{BB962C8B-B14F-4D97-AF65-F5344CB8AC3E}">
        <p14:creationId xmlns:p14="http://schemas.microsoft.com/office/powerpoint/2010/main" val="616793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zh-4">
            <a:extLst xmlns:a="http://schemas.openxmlformats.org/drawingml/2006/main">
              <a:ext uri="{FF2B5EF4-FFF2-40B4-BE49-F238E27FC236}">
                <a16:creationId xmlns:a16="http://schemas.microsoft.com/office/drawing/2014/main" id="{23EDFC9C-855A-4BC6-9B23-45EE85F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步骤 4–6：每张图都有任务</a:t>
            </a:r>
          </a:p>
        </p:txBody>
      </p:sp>
      <p:sp>
        <p:nvSpPr>
          <p:cNvPr id="2" name="title-en-4">
            <a:extLst xmlns:a="http://schemas.openxmlformats.org/drawingml/2006/main">
              <a:ext uri="{FF2B5EF4-FFF2-40B4-BE49-F238E27FC236}">
                <a16:creationId xmlns:a16="http://schemas.microsoft.com/office/drawing/2014/main" id="{29F1E68F-34F4-407D-ABD7-A770E0A8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Steps 4–6 give every visual a job</a:t>
            </a:r>
          </a:p>
        </p:txBody>
      </p:sp>
      <p:sp>
        <p:nvSpPr>
          <p:cNvPr id="3" name="source-4">
            <a:extLst xmlns:a="http://schemas.openxmlformats.org/drawingml/2006/main">
              <a:ext uri="{FF2B5EF4-FFF2-40B4-BE49-F238E27FC236}">
                <a16:creationId xmlns:a16="http://schemas.microsoft.com/office/drawing/2014/main" id="{17DACB20-D36C-4680-8C10-4AA0C4EC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Source: PPT Craft workflow; GitHub implementation review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CE3CF14-B0D6-4437-8950-E544BE3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2" name="timeline-4"/>
          <p:cNvCxnSpPr/>
          <p:nvPr/>
        </p:nvCxnSpPr>
        <p:spPr>
          <a:xfrm xmlns:a="http://schemas.openxmlformats.org/drawingml/2006/main">
            <a:off x="390525" y="3105150"/>
            <a:ext cx="1140142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6" name="dot-4-0">
            <a:extLst xmlns:a="http://schemas.openxmlformats.org/drawingml/2006/main">
              <a:ext uri="{FF2B5EF4-FFF2-40B4-BE49-F238E27FC236}">
                <a16:creationId xmlns:a16="http://schemas.microsoft.com/office/drawing/2014/main" id="{3676B24C-7F8F-46BB-90BD-AB6831E3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4-0">
            <a:extLst xmlns:a="http://schemas.openxmlformats.org/drawingml/2006/main">
              <a:ext uri="{FF2B5EF4-FFF2-40B4-BE49-F238E27FC236}">
                <a16:creationId xmlns:a16="http://schemas.microsoft.com/office/drawing/2014/main" id="{0E5AB193-787C-40F5-B249-E045937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04  SOURCE / 配图</a:t>
            </a:r>
          </a:p>
        </p:txBody>
      </p:sp>
      <p:sp>
        <p:nvSpPr>
          <p:cNvPr id="8" name="stage-zh-4-0">
            <a:extLst xmlns:a="http://schemas.openxmlformats.org/drawingml/2006/main">
              <a:ext uri="{FF2B5EF4-FFF2-40B4-BE49-F238E27FC236}">
                <a16:creationId xmlns:a16="http://schemas.microsoft.com/office/drawing/2014/main" id="{20AD3C4B-24D8-4F54-B111-89002AE1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先定义视觉任务</a:t>
            </a:r>
          </a:p>
        </p:txBody>
      </p:sp>
      <p:sp>
        <p:nvSpPr>
          <p:cNvPr id="9" name="stage-en-4-0">
            <a:extLst xmlns:a="http://schemas.openxmlformats.org/drawingml/2006/main">
              <a:ext uri="{FF2B5EF4-FFF2-40B4-BE49-F238E27FC236}">
                <a16:creationId xmlns:a16="http://schemas.microsoft.com/office/drawing/2014/main" id="{59FE6AB4-3201-4E3C-A9BA-F6324F05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Define what the visual must explain before searching.</a:t>
            </a:r>
          </a:p>
        </p:txBody>
      </p:sp>
      <p:sp>
        <p:nvSpPr>
          <p:cNvPr id="10" name="dot-4-1">
            <a:extLst xmlns:a="http://schemas.openxmlformats.org/drawingml/2006/main">
              <a:ext uri="{FF2B5EF4-FFF2-40B4-BE49-F238E27FC236}">
                <a16:creationId xmlns:a16="http://schemas.microsoft.com/office/drawing/2014/main" id="{A686A088-767D-4E17-A513-6FA18D0E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4-1">
            <a:extLst xmlns:a="http://schemas.openxmlformats.org/drawingml/2006/main">
              <a:ext uri="{FF2B5EF4-FFF2-40B4-BE49-F238E27FC236}">
                <a16:creationId xmlns:a16="http://schemas.microsoft.com/office/drawing/2014/main" id="{B3AC8164-5EDB-4CDA-9E92-E6CA318A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05  REFINE / 优化</a:t>
            </a:r>
          </a:p>
        </p:txBody>
      </p:sp>
      <p:sp>
        <p:nvSpPr>
          <p:cNvPr id="12" name="stage-zh-4-1">
            <a:extLst xmlns:a="http://schemas.openxmlformats.org/drawingml/2006/main">
              <a:ext uri="{FF2B5EF4-FFF2-40B4-BE49-F238E27FC236}">
                <a16:creationId xmlns:a16="http://schemas.microsoft.com/office/drawing/2014/main" id="{07914453-35CE-4A35-AA2B-0807DCC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核对来源与裁切</a:t>
            </a:r>
          </a:p>
        </p:txBody>
      </p:sp>
      <p:sp>
        <p:nvSpPr>
          <p:cNvPr id="13" name="stage-en-4-1">
            <a:extLst xmlns:a="http://schemas.openxmlformats.org/drawingml/2006/main">
              <a:ext uri="{FF2B5EF4-FFF2-40B4-BE49-F238E27FC236}">
                <a16:creationId xmlns:a16="http://schemas.microsoft.com/office/drawing/2014/main" id="{C8EB84B4-CA2D-42B9-8E42-48B95233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Check provenance, licence, crop, resolution, and whitespace.</a:t>
            </a:r>
          </a:p>
        </p:txBody>
      </p:sp>
      <p:sp>
        <p:nvSpPr>
          <p:cNvPr id="14" name="dot-4-2">
            <a:extLst xmlns:a="http://schemas.openxmlformats.org/drawingml/2006/main">
              <a:ext uri="{FF2B5EF4-FFF2-40B4-BE49-F238E27FC236}">
                <a16:creationId xmlns:a16="http://schemas.microsoft.com/office/drawing/2014/main" id="{BED5F490-62E9-41A1-A38B-0790AC4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4-2">
            <a:extLst xmlns:a="http://schemas.openxmlformats.org/drawingml/2006/main">
              <a:ext uri="{FF2B5EF4-FFF2-40B4-BE49-F238E27FC236}">
                <a16:creationId xmlns:a16="http://schemas.microsoft.com/office/drawing/2014/main" id="{1E9C40DD-40AC-4318-8CD3-7DDF869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06  GENERATE / 生图</a:t>
            </a:r>
          </a:p>
        </p:txBody>
      </p:sp>
      <p:sp>
        <p:nvSpPr>
          <p:cNvPr id="16" name="stage-zh-4-2">
            <a:extLst xmlns:a="http://schemas.openxmlformats.org/drawingml/2006/main">
              <a:ext uri="{FF2B5EF4-FFF2-40B4-BE49-F238E27FC236}">
                <a16:creationId xmlns:a16="http://schemas.microsoft.com/office/drawing/2014/main" id="{44901E65-70A8-4186-AAC2-DE5B0441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样张通过后再扩展</a:t>
            </a:r>
          </a:p>
        </p:txBody>
      </p:sp>
      <p:sp>
        <p:nvSpPr>
          <p:cNvPr id="17" name="stage-en-4-2">
            <a:extLst xmlns:a="http://schemas.openxmlformats.org/drawingml/2006/main">
              <a:ext uri="{FF2B5EF4-FFF2-40B4-BE49-F238E27FC236}">
                <a16:creationId xmlns:a16="http://schemas.microsoft.com/office/drawing/2014/main" id="{3ABDDB56-1668-4096-A56E-C1473220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Approve a representative sample before generating more.</a:t>
            </a:r>
          </a:p>
        </p:txBody>
      </p:sp>
    </p:spTree>
    <p:extLst>
      <p:ext uri="{BB962C8B-B14F-4D97-AF65-F5344CB8AC3E}">
        <p14:creationId xmlns:p14="http://schemas.microsoft.com/office/powerpoint/2010/main" val="375822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zh-5">
            <a:extLst xmlns:a="http://schemas.openxmlformats.org/drawingml/2006/main">
              <a:ext uri="{FF2B5EF4-FFF2-40B4-BE49-F238E27FC236}">
                <a16:creationId xmlns:a16="http://schemas.microsoft.com/office/drawing/2014/main" id="{006D1D3E-7FC3-49AB-B34D-D5CF23E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步骤 7–9：排版进入生产</a:t>
            </a:r>
          </a:p>
        </p:txBody>
      </p:sp>
      <p:sp>
        <p:nvSpPr>
          <p:cNvPr id="2" name="title-en-5">
            <a:extLst xmlns:a="http://schemas.openxmlformats.org/drawingml/2006/main">
              <a:ext uri="{FF2B5EF4-FFF2-40B4-BE49-F238E27FC236}">
                <a16:creationId xmlns:a16="http://schemas.microsoft.com/office/drawing/2014/main" id="{01DD70F6-37DB-437E-8025-CFD212E7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Steps 7–9 turn decisions into an editable file</a:t>
            </a:r>
          </a:p>
        </p:txBody>
      </p:sp>
      <p:sp>
        <p:nvSpPr>
          <p:cNvPr id="3" name="source-5">
            <a:extLst xmlns:a="http://schemas.openxmlformats.org/drawingml/2006/main">
              <a:ext uri="{FF2B5EF4-FFF2-40B4-BE49-F238E27FC236}">
                <a16:creationId xmlns:a16="http://schemas.microsoft.com/office/drawing/2014/main" id="{7A3C00C3-0382-41AB-A884-EC8570D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Source: PPT Craft workflow / 来源：PPT Craft 工作流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E0505FF-5C85-4D58-B5A6-A41D5B4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cxnSp>
        <p:nvCxnSpPr>
          <p:cNvPr id="22" name="timeline-5"/>
          <p:cNvCxnSpPr/>
          <p:nvPr/>
        </p:nvCxnSpPr>
        <p:spPr>
          <a:xfrm xmlns:a="http://schemas.openxmlformats.org/drawingml/2006/main">
            <a:off x="390525" y="3105150"/>
            <a:ext cx="11401425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6" name="dot-5-0">
            <a:extLst xmlns:a="http://schemas.openxmlformats.org/drawingml/2006/main">
              <a:ext uri="{FF2B5EF4-FFF2-40B4-BE49-F238E27FC236}">
                <a16:creationId xmlns:a16="http://schemas.microsoft.com/office/drawing/2014/main" id="{AA75F5EB-5329-42D3-A04C-53CA6155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5-0">
            <a:extLst xmlns:a="http://schemas.openxmlformats.org/drawingml/2006/main">
              <a:ext uri="{FF2B5EF4-FFF2-40B4-BE49-F238E27FC236}">
                <a16:creationId xmlns:a16="http://schemas.microsoft.com/office/drawing/2014/main" id="{42C16A55-B623-4E25-B1B4-545CA6A5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07  LAYOUT / 排版</a:t>
            </a:r>
          </a:p>
        </p:txBody>
      </p:sp>
      <p:sp>
        <p:nvSpPr>
          <p:cNvPr id="8" name="stage-zh-5-0">
            <a:extLst xmlns:a="http://schemas.openxmlformats.org/drawingml/2006/main">
              <a:ext uri="{FF2B5EF4-FFF2-40B4-BE49-F238E27FC236}">
                <a16:creationId xmlns:a16="http://schemas.microsoft.com/office/drawing/2014/main" id="{F12B39BB-DF31-4F99-AA75-AD4A613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确定页面结构</a:t>
            </a:r>
          </a:p>
        </p:txBody>
      </p:sp>
      <p:sp>
        <p:nvSpPr>
          <p:cNvPr id="9" name="stage-en-5-0">
            <a:extLst xmlns:a="http://schemas.openxmlformats.org/drawingml/2006/main">
              <a:ext uri="{FF2B5EF4-FFF2-40B4-BE49-F238E27FC236}">
                <a16:creationId xmlns:a16="http://schemas.microsoft.com/office/drawing/2014/main" id="{E664D15E-14F2-4B38-A87D-FC536A1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Specify hierarchy, placement, chart form, alignment, and whitespace.</a:t>
            </a:r>
          </a:p>
        </p:txBody>
      </p:sp>
      <p:sp>
        <p:nvSpPr>
          <p:cNvPr id="10" name="dot-5-1">
            <a:extLst xmlns:a="http://schemas.openxmlformats.org/drawingml/2006/main">
              <a:ext uri="{FF2B5EF4-FFF2-40B4-BE49-F238E27FC236}">
                <a16:creationId xmlns:a16="http://schemas.microsoft.com/office/drawing/2014/main" id="{40D0A1BA-D8D3-49BA-85EF-C3846F9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5-1">
            <a:extLst xmlns:a="http://schemas.openxmlformats.org/drawingml/2006/main">
              <a:ext uri="{FF2B5EF4-FFF2-40B4-BE49-F238E27FC236}">
                <a16:creationId xmlns:a16="http://schemas.microsoft.com/office/drawing/2014/main" id="{C548A87E-933C-4BF4-A4A8-85329D22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08  PROOF / 校样</a:t>
            </a:r>
          </a:p>
        </p:txBody>
      </p:sp>
      <p:sp>
        <p:nvSpPr>
          <p:cNvPr id="12" name="stage-zh-5-1">
            <a:extLst xmlns:a="http://schemas.openxmlformats.org/drawingml/2006/main">
              <a:ext uri="{FF2B5EF4-FFF2-40B4-BE49-F238E27FC236}">
                <a16:creationId xmlns:a16="http://schemas.microsoft.com/office/drawing/2014/main" id="{F27F0800-7683-4FF9-9153-08838BA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检查阅读与节奏</a:t>
            </a:r>
          </a:p>
        </p:txBody>
      </p:sp>
      <p:sp>
        <p:nvSpPr>
          <p:cNvPr id="13" name="stage-en-5-1">
            <a:extLst xmlns:a="http://schemas.openxmlformats.org/drawingml/2006/main">
              <a:ext uri="{FF2B5EF4-FFF2-40B4-BE49-F238E27FC236}">
                <a16:creationId xmlns:a16="http://schemas.microsoft.com/office/drawing/2014/main" id="{D37317EB-E673-47AD-B2B7-BD21B7F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Review contrast, density, wrapping, crop, and cross-slide rhythm.</a:t>
            </a:r>
          </a:p>
        </p:txBody>
      </p:sp>
      <p:sp>
        <p:nvSpPr>
          <p:cNvPr id="14" name="dot-5-2">
            <a:extLst xmlns:a="http://schemas.openxmlformats.org/drawingml/2006/main">
              <a:ext uri="{FF2B5EF4-FFF2-40B4-BE49-F238E27FC236}">
                <a16:creationId xmlns:a16="http://schemas.microsoft.com/office/drawing/2014/main" id="{C1E2F9C5-B48A-4563-9EDB-47841F9C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5-2">
            <a:extLst xmlns:a="http://schemas.openxmlformats.org/drawingml/2006/main">
              <a:ext uri="{FF2B5EF4-FFF2-40B4-BE49-F238E27FC236}">
                <a16:creationId xmlns:a16="http://schemas.microsoft.com/office/drawing/2014/main" id="{1E44C60A-B314-4E4F-A151-C1F2E5E8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09  PRODUCE / 制作</a:t>
            </a:r>
          </a:p>
        </p:txBody>
      </p:sp>
      <p:sp>
        <p:nvSpPr>
          <p:cNvPr id="16" name="stage-zh-5-2">
            <a:extLst xmlns:a="http://schemas.openxmlformats.org/drawingml/2006/main">
              <a:ext uri="{FF2B5EF4-FFF2-40B4-BE49-F238E27FC236}">
                <a16:creationId xmlns:a16="http://schemas.microsoft.com/office/drawing/2014/main" id="{5E4497DA-A13E-47ED-BE6C-A7BC03C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生成并逐页验收</a:t>
            </a:r>
          </a:p>
        </p:txBody>
      </p:sp>
      <p:sp>
        <p:nvSpPr>
          <p:cNvPr id="17" name="stage-en-5-2">
            <a:extLst xmlns:a="http://schemas.openxmlformats.org/drawingml/2006/main">
              <a:ext uri="{FF2B5EF4-FFF2-40B4-BE49-F238E27FC236}">
                <a16:creationId xmlns:a16="http://schemas.microsoft.com/office/drawing/2014/main" id="{863EC954-772A-45E9-877E-FB418F8A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 the PPTX, render every slide, fix defects, and re-check.</a:t>
            </a:r>
          </a:p>
        </p:txBody>
      </p:sp>
    </p:spTree>
    <p:extLst>
      <p:ext uri="{BB962C8B-B14F-4D97-AF65-F5344CB8AC3E}">
        <p14:creationId xmlns:p14="http://schemas.microsoft.com/office/powerpoint/2010/main" val="784126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zh-6">
            <a:extLst xmlns:a="http://schemas.openxmlformats.org/drawingml/2006/main">
              <a:ext uri="{FF2B5EF4-FFF2-40B4-BE49-F238E27FC236}">
                <a16:creationId xmlns:a16="http://schemas.microsoft.com/office/drawing/2014/main" id="{B83A3E02-7FA4-46C6-9175-09D06E3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理论用于减少不必要阻力</a:t>
            </a:r>
          </a:p>
        </p:txBody>
      </p:sp>
      <p:sp>
        <p:nvSpPr>
          <p:cNvPr id="2" name="title-en-6">
            <a:extLst xmlns:a="http://schemas.openxmlformats.org/drawingml/2006/main">
              <a:ext uri="{FF2B5EF4-FFF2-40B4-BE49-F238E27FC236}">
                <a16:creationId xmlns:a16="http://schemas.microsoft.com/office/drawing/2014/main" id="{B31767AE-7B22-4376-BF28-268045B1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Theory reduces avoidable friction</a:t>
            </a:r>
          </a:p>
        </p:txBody>
      </p:sp>
      <p:sp>
        <p:nvSpPr>
          <p:cNvPr id="3" name="source-6">
            <a:extLst xmlns:a="http://schemas.openxmlformats.org/drawingml/2006/main">
              <a:ext uri="{FF2B5EF4-FFF2-40B4-BE49-F238E27FC236}">
                <a16:creationId xmlns:a16="http://schemas.microsoft.com/office/drawing/2014/main" id="{EBB4F9DC-D2B2-4D31-97A4-B533D22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Sources: Mayer; Sweller; Cleveland &amp; McGill; W3C; Microsoft Support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B8094E16-C283-4B44-B2FB-22089D70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cxnSp>
        <p:nvCxnSpPr>
          <p:cNvPr id="28" name="theory-v"/>
          <p:cNvCxnSpPr/>
          <p:nvPr/>
        </p:nvCxnSpPr>
        <p:spPr>
          <a:xfrm xmlns:a="http://schemas.openxmlformats.org/drawingml/2006/main">
            <a:off x="6096000" y="1714500"/>
            <a:ext cx="286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9" name="theory-h-left"/>
          <p:cNvCxnSpPr/>
          <p:nvPr/>
        </p:nvCxnSpPr>
        <p:spPr>
          <a:xfrm xmlns:a="http://schemas.openxmlformats.org/drawingml/2006/main">
            <a:off x="390525" y="4000500"/>
            <a:ext cx="5143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0" name="theory-h-right"/>
          <p:cNvCxnSpPr/>
          <p:nvPr/>
        </p:nvCxnSpPr>
        <p:spPr>
          <a:xfrm xmlns:a="http://schemas.openxmlformats.org/drawingml/2006/main">
            <a:off x="6667500" y="4000500"/>
            <a:ext cx="5124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heory-zh-0">
            <a:extLst xmlns:a="http://schemas.openxmlformats.org/drawingml/2006/main">
              <a:ext uri="{FF2B5EF4-FFF2-40B4-BE49-F238E27FC236}">
                <a16:creationId xmlns:a16="http://schemas.microsoft.com/office/drawing/2014/main" id="{A6C57D71-6231-4C1F-80E4-B27E90BB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连贯</a:t>
            </a:r>
          </a:p>
        </p:txBody>
      </p:sp>
      <p:sp>
        <p:nvSpPr>
          <p:cNvPr id="9" name="theory-en-label-0">
            <a:extLst xmlns:a="http://schemas.openxmlformats.org/drawingml/2006/main">
              <a:ext uri="{FF2B5EF4-FFF2-40B4-BE49-F238E27FC236}">
                <a16:creationId xmlns:a16="http://schemas.microsoft.com/office/drawing/2014/main" id="{B579F4F2-099C-42D4-8D61-708D202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COHERENCE</a:t>
            </a:r>
          </a:p>
        </p:txBody>
      </p:sp>
      <p:sp>
        <p:nvSpPr>
          <p:cNvPr id="10" name="theory-copy-zh-0">
            <a:extLst xmlns:a="http://schemas.openxmlformats.org/drawingml/2006/main">
              <a:ext uri="{FF2B5EF4-FFF2-40B4-BE49-F238E27FC236}">
                <a16:creationId xmlns:a16="http://schemas.microsoft.com/office/drawing/2014/main" id="{65846FBC-5644-4725-9BD8-C77EA7E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删除与页面任务无关的素材。</a:t>
            </a:r>
          </a:p>
        </p:txBody>
      </p:sp>
      <p:sp>
        <p:nvSpPr>
          <p:cNvPr id="11" name="theory-copy-en-0">
            <a:extLst xmlns:a="http://schemas.openxmlformats.org/drawingml/2006/main">
              <a:ext uri="{FF2B5EF4-FFF2-40B4-BE49-F238E27FC236}">
                <a16:creationId xmlns:a16="http://schemas.microsoft.com/office/drawing/2014/main" id="{DB103A8A-0DB8-4F33-AFDD-AC6DDD92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05150"/>
            <a:ext cx="504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Remove material that does not support the slide's job.</a:t>
            </a:r>
          </a:p>
        </p:txBody>
      </p:sp>
      <p:sp>
        <p:nvSpPr>
          <p:cNvPr id="12" name="theory-zh-1">
            <a:extLst xmlns:a="http://schemas.openxmlformats.org/drawingml/2006/main">
              <a:ext uri="{FF2B5EF4-FFF2-40B4-BE49-F238E27FC236}">
                <a16:creationId xmlns:a16="http://schemas.microsoft.com/office/drawing/2014/main" id="{5992CE82-55BD-43C9-A2EC-E6136D9A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提示与邻近</a:t>
            </a:r>
          </a:p>
        </p:txBody>
      </p:sp>
      <p:sp>
        <p:nvSpPr>
          <p:cNvPr id="13" name="theory-en-label-1">
            <a:extLst xmlns:a="http://schemas.openxmlformats.org/drawingml/2006/main">
              <a:ext uri="{FF2B5EF4-FFF2-40B4-BE49-F238E27FC236}">
                <a16:creationId xmlns:a16="http://schemas.microsoft.com/office/drawing/2014/main" id="{33EAD43A-BA32-47EF-91CF-0ADEF864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 + CONTIGUITY</a:t>
            </a:r>
          </a:p>
        </p:txBody>
      </p:sp>
      <p:sp>
        <p:nvSpPr>
          <p:cNvPr id="14" name="theory-copy-zh-1">
            <a:extLst xmlns:a="http://schemas.openxmlformats.org/drawingml/2006/main">
              <a:ext uri="{FF2B5EF4-FFF2-40B4-BE49-F238E27FC236}">
                <a16:creationId xmlns:a16="http://schemas.microsoft.com/office/drawing/2014/main" id="{0C32F7CF-A84E-4DAA-8C66-6B7C0C7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突出重点，把说明放在对应图形旁。</a:t>
            </a:r>
          </a:p>
        </p:txBody>
      </p:sp>
      <p:sp>
        <p:nvSpPr>
          <p:cNvPr id="15" name="theory-copy-en-1">
            <a:extLst xmlns:a="http://schemas.openxmlformats.org/drawingml/2006/main">
              <a:ext uri="{FF2B5EF4-FFF2-40B4-BE49-F238E27FC236}">
                <a16:creationId xmlns:a16="http://schemas.microsoft.com/office/drawing/2014/main" id="{C1C1452D-290F-4A25-A3AB-5B12F741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504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 focus and place explanations beside their referents.</a:t>
            </a:r>
          </a:p>
        </p:txBody>
      </p:sp>
      <p:sp>
        <p:nvSpPr>
          <p:cNvPr id="16" name="theory-zh-2">
            <a:extLst xmlns:a="http://schemas.openxmlformats.org/drawingml/2006/main">
              <a:ext uri="{FF2B5EF4-FFF2-40B4-BE49-F238E27FC236}">
                <a16:creationId xmlns:a16="http://schemas.microsoft.com/office/drawing/2014/main" id="{819EE863-90C4-4B1D-A8AF-56B6971C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624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图形感知</a:t>
            </a:r>
          </a:p>
        </p:txBody>
      </p:sp>
      <p:sp>
        <p:nvSpPr>
          <p:cNvPr id="17" name="theory-en-label-2">
            <a:extLst xmlns:a="http://schemas.openxmlformats.org/drawingml/2006/main">
              <a:ext uri="{FF2B5EF4-FFF2-40B4-BE49-F238E27FC236}">
                <a16:creationId xmlns:a16="http://schemas.microsoft.com/office/drawing/2014/main" id="{7CAB8D29-0584-46AC-8ADE-23A562F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GRAPHICAL PERCEPTION</a:t>
            </a:r>
          </a:p>
        </p:txBody>
      </p:sp>
      <p:sp>
        <p:nvSpPr>
          <p:cNvPr id="18" name="theory-copy-zh-2">
            <a:extLst xmlns:a="http://schemas.openxmlformats.org/drawingml/2006/main">
              <a:ext uri="{FF2B5EF4-FFF2-40B4-BE49-F238E27FC236}">
                <a16:creationId xmlns:a16="http://schemas.microsoft.com/office/drawing/2014/main" id="{A978241C-FB52-4787-A5D7-7A3730F2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5780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精确比较优先使用位置和长度。</a:t>
            </a:r>
          </a:p>
        </p:txBody>
      </p:sp>
      <p:sp>
        <p:nvSpPr>
          <p:cNvPr id="19" name="theory-copy-en-2">
            <a:extLst xmlns:a="http://schemas.openxmlformats.org/drawingml/2006/main">
              <a:ext uri="{FF2B5EF4-FFF2-40B4-BE49-F238E27FC236}">
                <a16:creationId xmlns:a16="http://schemas.microsoft.com/office/drawing/2014/main" id="{CB5EA3A6-7934-4BCF-BC41-E59131EF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504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Prefer position and length for precise comparisons.</a:t>
            </a:r>
          </a:p>
        </p:txBody>
      </p:sp>
      <p:sp>
        <p:nvSpPr>
          <p:cNvPr id="20" name="theory-zh-3">
            <a:extLst xmlns:a="http://schemas.openxmlformats.org/drawingml/2006/main">
              <a:ext uri="{FF2B5EF4-FFF2-40B4-BE49-F238E27FC236}">
                <a16:creationId xmlns:a16="http://schemas.microsoft.com/office/drawing/2014/main" id="{FCF614D9-74E3-42CA-87F3-CB390BBA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可访问性</a:t>
            </a:r>
          </a:p>
        </p:txBody>
      </p:sp>
      <p:sp>
        <p:nvSpPr>
          <p:cNvPr id="21" name="theory-en-label-3">
            <a:extLst xmlns:a="http://schemas.openxmlformats.org/drawingml/2006/main">
              <a:ext uri="{FF2B5EF4-FFF2-40B4-BE49-F238E27FC236}">
                <a16:creationId xmlns:a16="http://schemas.microsoft.com/office/drawing/2014/main" id="{FFD3A3DC-7975-42C1-BEA1-616AE7E6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ACCESSIBILITY</a:t>
            </a:r>
          </a:p>
        </p:txBody>
      </p:sp>
      <p:sp>
        <p:nvSpPr>
          <p:cNvPr id="22" name="theory-copy-zh-3">
            <a:extLst xmlns:a="http://schemas.openxmlformats.org/drawingml/2006/main">
              <a:ext uri="{FF2B5EF4-FFF2-40B4-BE49-F238E27FC236}">
                <a16:creationId xmlns:a16="http://schemas.microsoft.com/office/drawing/2014/main" id="{C6F20AF7-59F7-42CA-A020-4A9B4532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504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保证对比度、替代文本和非颜色线索。</a:t>
            </a:r>
          </a:p>
        </p:txBody>
      </p:sp>
      <p:sp>
        <p:nvSpPr>
          <p:cNvPr id="23" name="theory-copy-en-3">
            <a:extLst xmlns:a="http://schemas.openxmlformats.org/drawingml/2006/main">
              <a:ext uri="{FF2B5EF4-FFF2-40B4-BE49-F238E27FC236}">
                <a16:creationId xmlns:a16="http://schemas.microsoft.com/office/drawing/2014/main" id="{B1312B84-90B4-4CAD-89E3-620F349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504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Protect contrast, alt text, and cues beyond colour.</a:t>
            </a:r>
          </a:p>
        </p:txBody>
      </p:sp>
    </p:spTree>
    <p:extLst>
      <p:ext uri="{BB962C8B-B14F-4D97-AF65-F5344CB8AC3E}">
        <p14:creationId xmlns:p14="http://schemas.microsoft.com/office/powerpoint/2010/main" val="1840597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zh-7">
            <a:extLst xmlns:a="http://schemas.openxmlformats.org/drawingml/2006/main">
              <a:ext uri="{FF2B5EF4-FFF2-40B4-BE49-F238E27FC236}">
                <a16:creationId xmlns:a16="http://schemas.microsoft.com/office/drawing/2014/main" id="{6647206E-ADBF-443D-BEB0-621C00B3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 实践补上工程纪律</a:t>
            </a:r>
          </a:p>
        </p:txBody>
      </p:sp>
      <p:sp>
        <p:nvSpPr>
          <p:cNvPr id="2" name="title-en-7">
            <a:extLst xmlns:a="http://schemas.openxmlformats.org/drawingml/2006/main">
              <a:ext uri="{FF2B5EF4-FFF2-40B4-BE49-F238E27FC236}">
                <a16:creationId xmlns:a16="http://schemas.microsoft.com/office/drawing/2014/main" id="{7499871D-1FDE-4A97-BEC8-05EC127B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 practice adds engineering discipline</a:t>
            </a:r>
          </a:p>
        </p:txBody>
      </p:sp>
      <p:sp>
        <p:nvSpPr>
          <p:cNvPr id="3" name="source-7">
            <a:extLst xmlns:a="http://schemas.openxmlformats.org/drawingml/2006/main">
              <a:ext uri="{FF2B5EF4-FFF2-40B4-BE49-F238E27FC236}">
                <a16:creationId xmlns:a16="http://schemas.microsoft.com/office/drawing/2014/main" id="{1463E53A-6C60-4E52-A213-F9201A6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Sources: anthropics/skills; siril9/presentation-skill; ningzimu/codex-ppt-skill; Noi1r/powerpoint-skill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F873F1FA-E179-440A-8507-09D42CB6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5" name="eng-no-0">
            <a:extLst xmlns:a="http://schemas.openxmlformats.org/drawingml/2006/main">
              <a:ext uri="{FF2B5EF4-FFF2-40B4-BE49-F238E27FC236}">
                <a16:creationId xmlns:a16="http://schemas.microsoft.com/office/drawing/2014/main" id="{BB401F6F-E7C5-478B-A860-324DA13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eng-title-0">
            <a:extLst xmlns:a="http://schemas.openxmlformats.org/drawingml/2006/main">
              <a:ext uri="{FF2B5EF4-FFF2-40B4-BE49-F238E27FC236}">
                <a16:creationId xmlns:a16="http://schemas.microsoft.com/office/drawing/2014/main" id="{634DA9D4-4D3D-46F0-8F0F-75D257E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573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来源优先 / SOURCE-FIRST</a:t>
            </a:r>
          </a:p>
        </p:txBody>
      </p:sp>
      <p:sp>
        <p:nvSpPr>
          <p:cNvPr id="7" name="eng-zh-0">
            <a:extLst xmlns:a="http://schemas.openxmlformats.org/drawingml/2006/main">
              <a:ext uri="{FF2B5EF4-FFF2-40B4-BE49-F238E27FC236}">
                <a16:creationId xmlns:a16="http://schemas.microsoft.com/office/drawing/2014/main" id="{6B6363EF-2258-43DA-8D4E-2435D3B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573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主张、证据、来源和页面保持对应。</a:t>
            </a:r>
          </a:p>
        </p:txBody>
      </p:sp>
      <p:sp>
        <p:nvSpPr>
          <p:cNvPr id="8" name="eng-en-0">
            <a:extLst xmlns:a="http://schemas.openxmlformats.org/drawingml/2006/main">
              <a:ext uri="{FF2B5EF4-FFF2-40B4-BE49-F238E27FC236}">
                <a16:creationId xmlns:a16="http://schemas.microsoft.com/office/drawing/2014/main" id="{1D64524E-EBAE-4D74-9496-9E3EC918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57400"/>
            <a:ext cx="581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Keep claims, evidence, sources, and slides connected.</a:t>
            </a:r>
          </a:p>
        </p:txBody>
      </p:sp>
      <p:cxnSp>
        <p:nvCxnSpPr>
          <p:cNvPr id="32" name="eng-rule-0"/>
          <p:cNvCxnSpPr/>
          <p:nvPr/>
        </p:nvCxnSpPr>
        <p:spPr>
          <a:xfrm xmlns:a="http://schemas.openxmlformats.org/drawingml/2006/main">
            <a:off x="1562100" y="2552700"/>
            <a:ext cx="986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eng-no-1">
            <a:extLst xmlns:a="http://schemas.openxmlformats.org/drawingml/2006/main">
              <a:ext uri="{FF2B5EF4-FFF2-40B4-BE49-F238E27FC236}">
                <a16:creationId xmlns:a16="http://schemas.microsoft.com/office/drawing/2014/main" id="{591E3C78-2FFB-4EB0-92F1-3927936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eng-title-1">
            <a:extLst xmlns:a="http://schemas.openxmlformats.org/drawingml/2006/main">
              <a:ext uri="{FF2B5EF4-FFF2-40B4-BE49-F238E27FC236}">
                <a16:creationId xmlns:a16="http://schemas.microsoft.com/office/drawing/2014/main" id="{47DA505F-9EC8-4C2E-8973-7712B67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241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样张门槛 / SAMPLE GATE</a:t>
            </a:r>
          </a:p>
        </p:txBody>
      </p:sp>
      <p:sp>
        <p:nvSpPr>
          <p:cNvPr id="12" name="eng-zh-1">
            <a:extLst xmlns:a="http://schemas.openxmlformats.org/drawingml/2006/main">
              <a:ext uri="{FF2B5EF4-FFF2-40B4-BE49-F238E27FC236}">
                <a16:creationId xmlns:a16="http://schemas.microsoft.com/office/drawing/2014/main" id="{43AD9A06-E52B-47CF-8A95-B0A398DA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批量生图或铺版前先检查代表页。</a:t>
            </a:r>
          </a:p>
        </p:txBody>
      </p:sp>
      <p:sp>
        <p:nvSpPr>
          <p:cNvPr id="13" name="eng-en-1">
            <a:extLst xmlns:a="http://schemas.openxmlformats.org/drawingml/2006/main">
              <a:ext uri="{FF2B5EF4-FFF2-40B4-BE49-F238E27FC236}">
                <a16:creationId xmlns:a16="http://schemas.microsoft.com/office/drawing/2014/main" id="{48305AD6-FA99-4F91-80B9-A718818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581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Review a representative slide before batch generation or layout.</a:t>
            </a:r>
          </a:p>
        </p:txBody>
      </p:sp>
      <p:cxnSp>
        <p:nvCxnSpPr>
          <p:cNvPr id="37" name="eng-rule-1"/>
          <p:cNvCxnSpPr/>
          <p:nvPr/>
        </p:nvCxnSpPr>
        <p:spPr>
          <a:xfrm xmlns:a="http://schemas.openxmlformats.org/drawingml/2006/main">
            <a:off x="1562100" y="3619500"/>
            <a:ext cx="986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eng-no-2">
            <a:extLst xmlns:a="http://schemas.openxmlformats.org/drawingml/2006/main">
              <a:ext uri="{FF2B5EF4-FFF2-40B4-BE49-F238E27FC236}">
                <a16:creationId xmlns:a16="http://schemas.microsoft.com/office/drawing/2014/main" id="{EE8588E9-0C1E-4092-91C8-2D60554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6" name="eng-title-2">
            <a:extLst xmlns:a="http://schemas.openxmlformats.org/drawingml/2006/main">
              <a:ext uri="{FF2B5EF4-FFF2-40B4-BE49-F238E27FC236}">
                <a16:creationId xmlns:a16="http://schemas.microsoft.com/office/drawing/2014/main" id="{FC0DC0A9-0782-413A-A208-6AEA8772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编辑性选择 / EDITABILITY</a:t>
            </a:r>
          </a:p>
        </p:txBody>
      </p:sp>
      <p:sp>
        <p:nvSpPr>
          <p:cNvPr id="17" name="eng-zh-2">
            <a:extLst xmlns:a="http://schemas.openxmlformats.org/drawingml/2006/main">
              <a:ext uri="{FF2B5EF4-FFF2-40B4-BE49-F238E27FC236}">
                <a16:creationId xmlns:a16="http://schemas.microsoft.com/office/drawing/2014/main" id="{05B41A83-E638-4CE5-B2AE-867A15D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909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在制作前确定原生对象、整页图片或混合路线。</a:t>
            </a:r>
          </a:p>
        </p:txBody>
      </p:sp>
      <p:sp>
        <p:nvSpPr>
          <p:cNvPr id="18" name="eng-en-2">
            <a:extLst xmlns:a="http://schemas.openxmlformats.org/drawingml/2006/main">
              <a:ext uri="{FF2B5EF4-FFF2-40B4-BE49-F238E27FC236}">
                <a16:creationId xmlns:a16="http://schemas.microsoft.com/office/drawing/2014/main" id="{02BA6DCD-C76A-4370-B694-B9B8ABED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581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Choose native, image-based, or hybrid output before production.</a:t>
            </a:r>
          </a:p>
        </p:txBody>
      </p:sp>
      <p:cxnSp>
        <p:nvCxnSpPr>
          <p:cNvPr id="42" name="eng-rule-2"/>
          <p:cNvCxnSpPr/>
          <p:nvPr/>
        </p:nvCxnSpPr>
        <p:spPr>
          <a:xfrm xmlns:a="http://schemas.openxmlformats.org/drawingml/2006/main">
            <a:off x="1562100" y="4686300"/>
            <a:ext cx="986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eng-no-3">
            <a:extLst xmlns:a="http://schemas.openxmlformats.org/drawingml/2006/main">
              <a:ext uri="{FF2B5EF4-FFF2-40B4-BE49-F238E27FC236}">
                <a16:creationId xmlns:a16="http://schemas.microsoft.com/office/drawing/2014/main" id="{95315B7C-54C7-466D-AC2A-1F2C60D0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91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1" name="eng-title-3">
            <a:extLst xmlns:a="http://schemas.openxmlformats.org/drawingml/2006/main">
              <a:ext uri="{FF2B5EF4-FFF2-40B4-BE49-F238E27FC236}">
                <a16:creationId xmlns:a16="http://schemas.microsoft.com/office/drawing/2014/main" id="{E9A05ED4-1A00-4CB6-AB3D-14B1C45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分层 QA / LAYERED QA</a:t>
            </a:r>
          </a:p>
        </p:txBody>
      </p:sp>
      <p:sp>
        <p:nvSpPr>
          <p:cNvPr id="22" name="eng-zh-3">
            <a:extLst xmlns:a="http://schemas.openxmlformats.org/drawingml/2006/main">
              <a:ext uri="{FF2B5EF4-FFF2-40B4-BE49-F238E27FC236}">
                <a16:creationId xmlns:a16="http://schemas.microsoft.com/office/drawing/2014/main" id="{1E30315A-078C-4ACA-BC57-99F51F13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内容、文件、几何和渲染分别检查。</a:t>
            </a:r>
          </a:p>
        </p:txBody>
      </p:sp>
      <p:sp>
        <p:nvSpPr>
          <p:cNvPr id="23" name="eng-en-3">
            <a:extLst xmlns:a="http://schemas.openxmlformats.org/drawingml/2006/main">
              <a:ext uri="{FF2B5EF4-FFF2-40B4-BE49-F238E27FC236}">
                <a16:creationId xmlns:a16="http://schemas.microsoft.com/office/drawing/2014/main" id="{6777C693-E55E-4DA6-AEB3-4D33A927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581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Inspect content, file structure, geometry, and rendering separately.</a:t>
            </a:r>
          </a:p>
        </p:txBody>
      </p:sp>
    </p:spTree>
    <p:extLst>
      <p:ext uri="{BB962C8B-B14F-4D97-AF65-F5344CB8AC3E}">
        <p14:creationId xmlns:p14="http://schemas.microsoft.com/office/powerpoint/2010/main" val="969447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zh-8">
            <a:extLst xmlns:a="http://schemas.openxmlformats.org/drawingml/2006/main">
              <a:ext uri="{FF2B5EF4-FFF2-40B4-BE49-F238E27FC236}">
                <a16:creationId xmlns:a16="http://schemas.microsoft.com/office/drawing/2014/main" id="{FC7C0636-9A1F-4EAF-BCCC-CFC4B17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双语页面需要清晰层级</a:t>
            </a:r>
          </a:p>
        </p:txBody>
      </p:sp>
      <p:sp>
        <p:nvSpPr>
          <p:cNvPr id="2" name="title-en-8">
            <a:extLst xmlns:a="http://schemas.openxmlformats.org/drawingml/2006/main">
              <a:ext uri="{FF2B5EF4-FFF2-40B4-BE49-F238E27FC236}">
                <a16:creationId xmlns:a16="http://schemas.microsoft.com/office/drawing/2014/main" id="{55D65D17-B93E-4062-8A91-D34F2E8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Bilingual slides need a clear hierarchy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787CBE7-4444-41DF-879C-751C12F2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bilingual-demo-field">
            <a:extLst xmlns:a="http://schemas.openxmlformats.org/drawingml/2006/main">
              <a:ext uri="{FF2B5EF4-FFF2-40B4-BE49-F238E27FC236}">
                <a16:creationId xmlns:a16="http://schemas.microsoft.com/office/drawing/2014/main" id="{AB1584AE-8805-4D22-B290-8ADD99A3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5410200" cy="417195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lingual-sample-zh">
            <a:extLst xmlns:a="http://schemas.openxmlformats.org/drawingml/2006/main">
              <a:ext uri="{FF2B5EF4-FFF2-40B4-BE49-F238E27FC236}">
                <a16:creationId xmlns:a16="http://schemas.microsoft.com/office/drawing/2014/main" id="{262214AC-A4B1-48BC-AE9F-B0D257A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667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一页只承担
一个明确任务</a:t>
            </a:r>
          </a:p>
        </p:txBody>
      </p:sp>
      <p:sp>
        <p:nvSpPr>
          <p:cNvPr id="6" name="bilingual-sample-en">
            <a:extLst xmlns:a="http://schemas.openxmlformats.org/drawingml/2006/main">
              <a:ext uri="{FF2B5EF4-FFF2-40B4-BE49-F238E27FC236}">
                <a16:creationId xmlns:a16="http://schemas.microsoft.com/office/drawing/2014/main" id="{AE8A6B92-C02C-4610-B4A6-51309779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667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Give each slide
one clear job</a:t>
            </a:r>
          </a:p>
        </p:txBody>
      </p:sp>
      <p:sp>
        <p:nvSpPr>
          <p:cNvPr id="7" name="bilingual-accent">
            <a:extLst xmlns:a="http://schemas.openxmlformats.org/drawingml/2006/main">
              <a:ext uri="{FF2B5EF4-FFF2-40B4-BE49-F238E27FC236}">
                <a16:creationId xmlns:a16="http://schemas.microsoft.com/office/drawing/2014/main" id="{7313685C-71CB-4D2C-A32A-141D125A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60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i-rule-zh-0">
            <a:extLst xmlns:a="http://schemas.openxmlformats.org/drawingml/2006/main">
              <a:ext uri="{FF2B5EF4-FFF2-40B4-BE49-F238E27FC236}">
                <a16:creationId xmlns:a16="http://schemas.microsoft.com/office/drawing/2014/main" id="{4BF34BFD-F9EB-4D85-913B-722FF0D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288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主次层级</a:t>
            </a:r>
          </a:p>
        </p:txBody>
      </p:sp>
      <p:sp>
        <p:nvSpPr>
          <p:cNvPr id="9" name="bi-rule-label-0">
            <a:extLst xmlns:a="http://schemas.openxmlformats.org/drawingml/2006/main">
              <a:ext uri="{FF2B5EF4-FFF2-40B4-BE49-F238E27FC236}">
                <a16:creationId xmlns:a16="http://schemas.microsoft.com/office/drawing/2014/main" id="{91C6975A-18F3-4DA8-8486-67E0947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PRIMARY / SECONDARY</a:t>
            </a:r>
          </a:p>
        </p:txBody>
      </p:sp>
      <p:sp>
        <p:nvSpPr>
          <p:cNvPr id="10" name="bi-rule-copy-zh-0">
            <a:extLst xmlns:a="http://schemas.openxmlformats.org/drawingml/2006/main">
              <a:ext uri="{FF2B5EF4-FFF2-40B4-BE49-F238E27FC236}">
                <a16:creationId xmlns:a16="http://schemas.microsoft.com/office/drawing/2014/main" id="{6B022C13-E5FF-481A-9E00-4AF54CE5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用字号、字重和颜色区分语言角色。</a:t>
            </a:r>
          </a:p>
        </p:txBody>
      </p:sp>
      <p:sp>
        <p:nvSpPr>
          <p:cNvPr id="11" name="bi-rule-copy-en-0">
            <a:extLst xmlns:a="http://schemas.openxmlformats.org/drawingml/2006/main">
              <a:ext uri="{FF2B5EF4-FFF2-40B4-BE49-F238E27FC236}">
                <a16:creationId xmlns:a16="http://schemas.microsoft.com/office/drawing/2014/main" id="{1578111C-0AA4-4FC9-B053-CD726790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Use size, weight, and colour to separate language roles.</a:t>
            </a:r>
          </a:p>
        </p:txBody>
      </p:sp>
      <p:sp>
        <p:nvSpPr>
          <p:cNvPr id="12" name="bi-rule-zh-1">
            <a:extLst xmlns:a="http://schemas.openxmlformats.org/drawingml/2006/main">
              <a:ext uri="{FF2B5EF4-FFF2-40B4-BE49-F238E27FC236}">
                <a16:creationId xmlns:a16="http://schemas.microsoft.com/office/drawing/2014/main" id="{BBFCBA9A-70BF-47FD-9A17-CE8DD9E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术语锁定</a:t>
            </a:r>
          </a:p>
        </p:txBody>
      </p:sp>
      <p:sp>
        <p:nvSpPr>
          <p:cNvPr id="13" name="bi-rule-label-1">
            <a:extLst xmlns:a="http://schemas.openxmlformats.org/drawingml/2006/main">
              <a:ext uri="{FF2B5EF4-FFF2-40B4-BE49-F238E27FC236}">
                <a16:creationId xmlns:a16="http://schemas.microsoft.com/office/drawing/2014/main" id="{59DE0371-5FC2-4F65-AC5B-4EA683C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TERMINOLOGY LOCK</a:t>
            </a:r>
          </a:p>
        </p:txBody>
      </p:sp>
      <p:sp>
        <p:nvSpPr>
          <p:cNvPr id="14" name="bi-rule-copy-zh-1">
            <a:extLst xmlns:a="http://schemas.openxmlformats.org/drawingml/2006/main">
              <a:ext uri="{FF2B5EF4-FFF2-40B4-BE49-F238E27FC236}">
                <a16:creationId xmlns:a16="http://schemas.microsoft.com/office/drawing/2014/main" id="{29F896E8-8053-4C2A-8BB4-DFFD5FE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专名、数字和来源保持一致。</a:t>
            </a:r>
          </a:p>
        </p:txBody>
      </p:sp>
      <p:sp>
        <p:nvSpPr>
          <p:cNvPr id="15" name="bi-rule-copy-en-1">
            <a:extLst xmlns:a="http://schemas.openxmlformats.org/drawingml/2006/main">
              <a:ext uri="{FF2B5EF4-FFF2-40B4-BE49-F238E27FC236}">
                <a16:creationId xmlns:a16="http://schemas.microsoft.com/office/drawing/2014/main" id="{9AD562CB-24F8-465B-9FED-EF22983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Keep names, numbers, and citations consistent.</a:t>
            </a:r>
          </a:p>
        </p:txBody>
      </p:sp>
      <p:sp>
        <p:nvSpPr>
          <p:cNvPr id="16" name="bi-rule-zh-2">
            <a:extLst xmlns:a="http://schemas.openxmlformats.org/drawingml/2006/main">
              <a:ext uri="{FF2B5EF4-FFF2-40B4-BE49-F238E27FC236}">
                <a16:creationId xmlns:a16="http://schemas.microsoft.com/office/drawing/2014/main" id="{522D7DCE-FCF7-4D3F-B759-D8CBCE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语义对应</a:t>
            </a:r>
          </a:p>
        </p:txBody>
      </p:sp>
      <p:sp>
        <p:nvSpPr>
          <p:cNvPr id="17" name="bi-rule-label-2">
            <a:extLst xmlns:a="http://schemas.openxmlformats.org/drawingml/2006/main">
              <a:ext uri="{FF2B5EF4-FFF2-40B4-BE49-F238E27FC236}">
                <a16:creationId xmlns:a16="http://schemas.microsoft.com/office/drawing/2014/main" id="{ACCE2728-3661-4742-8442-62A755FC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14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SEMANTIC PARITY</a:t>
            </a:r>
          </a:p>
        </p:txBody>
      </p:sp>
      <p:sp>
        <p:nvSpPr>
          <p:cNvPr id="18" name="bi-rule-copy-zh-2">
            <a:extLst xmlns:a="http://schemas.openxmlformats.org/drawingml/2006/main">
              <a:ext uri="{FF2B5EF4-FFF2-40B4-BE49-F238E27FC236}">
                <a16:creationId xmlns:a16="http://schemas.microsoft.com/office/drawing/2014/main" id="{1DA14E69-A7F2-4390-B428-E1D11DAA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387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压缩译文时保留关键限定与行动。</a:t>
            </a:r>
          </a:p>
        </p:txBody>
      </p:sp>
      <p:sp>
        <p:nvSpPr>
          <p:cNvPr id="19" name="bi-rule-copy-en-2">
            <a:extLst xmlns:a="http://schemas.openxmlformats.org/drawingml/2006/main">
              <a:ext uri="{FF2B5EF4-FFF2-40B4-BE49-F238E27FC236}">
                <a16:creationId xmlns:a16="http://schemas.microsoft.com/office/drawing/2014/main" id="{4338E983-0C7E-4D0B-924A-37FC51D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626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Preserve material qualifiers and actions when compressing copy.</a:t>
            </a:r>
          </a:p>
        </p:txBody>
      </p:sp>
    </p:spTree>
    <p:extLst>
      <p:ext uri="{BB962C8B-B14F-4D97-AF65-F5344CB8AC3E}">
        <p14:creationId xmlns:p14="http://schemas.microsoft.com/office/powerpoint/2010/main" val="76286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zh-9">
            <a:extLst xmlns:a="http://schemas.openxmlformats.org/drawingml/2006/main">
              <a:ext uri="{FF2B5EF4-FFF2-40B4-BE49-F238E27FC236}">
                <a16:creationId xmlns:a16="http://schemas.microsoft.com/office/drawing/2014/main" id="{90D5D437-3038-49E6-875A-07E38215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本演示按同一流程制作</a:t>
            </a:r>
          </a:p>
        </p:txBody>
      </p:sp>
      <p:sp>
        <p:nvSpPr>
          <p:cNvPr id="2" name="title-en-9">
            <a:extLst xmlns:a="http://schemas.openxmlformats.org/drawingml/2006/main">
              <a:ext uri="{FF2B5EF4-FFF2-40B4-BE49-F238E27FC236}">
                <a16:creationId xmlns:a16="http://schemas.microsoft.com/office/drawing/2014/main" id="{8B9D0CA3-6E4B-4A0A-95BF-752A3D45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This deck follows the same workflow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424CDF2C-97BB-4263-945F-6E80DE8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28" name="trace-line"/>
          <p:cNvCxnSpPr/>
          <p:nvPr/>
        </p:nvCxnSpPr>
        <p:spPr>
          <a:xfrm xmlns:a="http://schemas.openxmlformats.org/drawingml/2006/main">
            <a:off x="533400" y="31051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trace-dot-0">
            <a:extLst xmlns:a="http://schemas.openxmlformats.org/drawingml/2006/main">
              <a:ext uri="{FF2B5EF4-FFF2-40B4-BE49-F238E27FC236}">
                <a16:creationId xmlns:a16="http://schemas.microsoft.com/office/drawing/2014/main" id="{5376E787-46F4-4002-AB98-E956D767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ce-label-0">
            <a:extLst xmlns:a="http://schemas.openxmlformats.org/drawingml/2006/main">
              <a:ext uri="{FF2B5EF4-FFF2-40B4-BE49-F238E27FC236}">
                <a16:creationId xmlns:a16="http://schemas.microsoft.com/office/drawing/2014/main" id="{A8B7A7D3-28D5-4007-B760-097968AD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OUTLINE</a:t>
            </a:r>
          </a:p>
        </p:txBody>
      </p:sp>
      <p:sp>
        <p:nvSpPr>
          <p:cNvPr id="7" name="trace-title-0">
            <a:extLst xmlns:a="http://schemas.openxmlformats.org/drawingml/2006/main">
              <a:ext uri="{FF2B5EF4-FFF2-40B4-BE49-F238E27FC236}">
                <a16:creationId xmlns:a16="http://schemas.microsoft.com/office/drawing/2014/main" id="{DAB3631C-92C2-4F46-8B26-4F4EF7B7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574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大纲与证据</a:t>
            </a:r>
          </a:p>
        </p:txBody>
      </p:sp>
      <p:sp>
        <p:nvSpPr>
          <p:cNvPr id="8" name="trace-zh-0">
            <a:extLst xmlns:a="http://schemas.openxmlformats.org/drawingml/2006/main">
              <a:ext uri="{FF2B5EF4-FFF2-40B4-BE49-F238E27FC236}">
                <a16:creationId xmlns:a16="http://schemas.microsoft.com/office/drawing/2014/main" id="{D4185F99-541A-48D0-B862-79164DB6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 页叙事
+ 来源对应</a:t>
            </a:r>
          </a:p>
        </p:txBody>
      </p:sp>
      <p:sp>
        <p:nvSpPr>
          <p:cNvPr id="9" name="trace-en-0">
            <a:extLst xmlns:a="http://schemas.openxmlformats.org/drawingml/2006/main">
              <a:ext uri="{FF2B5EF4-FFF2-40B4-BE49-F238E27FC236}">
                <a16:creationId xmlns:a16="http://schemas.microsoft.com/office/drawing/2014/main" id="{BF794A52-27E2-4382-9019-C693AD2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10-slide narrative
+ source mapping</a:t>
            </a:r>
          </a:p>
        </p:txBody>
      </p:sp>
      <p:sp>
        <p:nvSpPr>
          <p:cNvPr id="10" name="trace-dot-1">
            <a:extLst xmlns:a="http://schemas.openxmlformats.org/drawingml/2006/main">
              <a:ext uri="{FF2B5EF4-FFF2-40B4-BE49-F238E27FC236}">
                <a16:creationId xmlns:a16="http://schemas.microsoft.com/office/drawing/2014/main" id="{6D43D834-E53B-4933-993C-3878210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ce-label-1">
            <a:extLst xmlns:a="http://schemas.openxmlformats.org/drawingml/2006/main">
              <a:ext uri="{FF2B5EF4-FFF2-40B4-BE49-F238E27FC236}">
                <a16:creationId xmlns:a16="http://schemas.microsoft.com/office/drawing/2014/main" id="{EF53D966-1857-4E5F-AF82-06DC3F28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VISUAL</a:t>
            </a:r>
          </a:p>
        </p:txBody>
      </p:sp>
      <p:sp>
        <p:nvSpPr>
          <p:cNvPr id="12" name="trace-title-1">
            <a:extLst xmlns:a="http://schemas.openxmlformats.org/drawingml/2006/main">
              <a:ext uri="{FF2B5EF4-FFF2-40B4-BE49-F238E27FC236}">
                <a16:creationId xmlns:a16="http://schemas.microsoft.com/office/drawing/2014/main" id="{28D7BE3A-9B0F-4A9A-8B8E-43D103F8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配图与样张</a:t>
            </a:r>
          </a:p>
        </p:txBody>
      </p:sp>
      <p:sp>
        <p:nvSpPr>
          <p:cNvPr id="13" name="trace-zh-1">
            <a:extLst xmlns:a="http://schemas.openxmlformats.org/drawingml/2006/main">
              <a:ext uri="{FF2B5EF4-FFF2-40B4-BE49-F238E27FC236}">
                <a16:creationId xmlns:a16="http://schemas.microsoft.com/office/drawing/2014/main" id="{CFA7FD8A-CB7F-4A8C-8AB3-9765BDC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 张生成图
+ 页面任务</a:t>
            </a:r>
          </a:p>
        </p:txBody>
      </p:sp>
      <p:sp>
        <p:nvSpPr>
          <p:cNvPr id="14" name="trace-en-1">
            <a:extLst xmlns:a="http://schemas.openxmlformats.org/drawingml/2006/main">
              <a:ext uri="{FF2B5EF4-FFF2-40B4-BE49-F238E27FC236}">
                <a16:creationId xmlns:a16="http://schemas.microsoft.com/office/drawing/2014/main" id="{E4BD3B97-4EA8-4FFA-801F-07CF611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1485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1 generated visual
+ defined purpose</a:t>
            </a:r>
          </a:p>
        </p:txBody>
      </p:sp>
      <p:sp>
        <p:nvSpPr>
          <p:cNvPr id="15" name="trace-dot-2">
            <a:extLst xmlns:a="http://schemas.openxmlformats.org/drawingml/2006/main">
              <a:ext uri="{FF2B5EF4-FFF2-40B4-BE49-F238E27FC236}">
                <a16:creationId xmlns:a16="http://schemas.microsoft.com/office/drawing/2014/main" id="{266ADD8A-C449-4B1C-AD4D-E5A539EB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ace-label-2">
            <a:extLst xmlns:a="http://schemas.openxmlformats.org/drawingml/2006/main">
              <a:ext uri="{FF2B5EF4-FFF2-40B4-BE49-F238E27FC236}">
                <a16:creationId xmlns:a16="http://schemas.microsoft.com/office/drawing/2014/main" id="{750BF38A-016F-40B8-B3A0-72CEAA47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145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</a:t>
            </a:r>
          </a:p>
        </p:txBody>
      </p:sp>
      <p:sp>
        <p:nvSpPr>
          <p:cNvPr id="17" name="trace-title-2">
            <a:extLst xmlns:a="http://schemas.openxmlformats.org/drawingml/2006/main">
              <a:ext uri="{FF2B5EF4-FFF2-40B4-BE49-F238E27FC236}">
                <a16:creationId xmlns:a16="http://schemas.microsoft.com/office/drawing/2014/main" id="{C1AA72A8-FB4C-4A85-A3F0-E4F20983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574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排版与制作</a:t>
            </a:r>
          </a:p>
        </p:txBody>
      </p:sp>
      <p:sp>
        <p:nvSpPr>
          <p:cNvPr id="18" name="trace-zh-2">
            <a:extLst xmlns:a="http://schemas.openxmlformats.org/drawingml/2006/main">
              <a:ext uri="{FF2B5EF4-FFF2-40B4-BE49-F238E27FC236}">
                <a16:creationId xmlns:a16="http://schemas.microsoft.com/office/drawing/2014/main" id="{7D1FC078-4917-4DF4-8992-25F2F2A3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1950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可编辑文字
+ 统一系统</a:t>
            </a:r>
          </a:p>
        </p:txBody>
      </p:sp>
      <p:sp>
        <p:nvSpPr>
          <p:cNvPr id="19" name="trace-en-2">
            <a:extLst xmlns:a="http://schemas.openxmlformats.org/drawingml/2006/main">
              <a:ext uri="{FF2B5EF4-FFF2-40B4-BE49-F238E27FC236}">
                <a16:creationId xmlns:a16="http://schemas.microsoft.com/office/drawing/2014/main" id="{38448861-BE37-4C44-9CD2-18DBBAB1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1485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Editable copy
+ coherent system</a:t>
            </a:r>
          </a:p>
        </p:txBody>
      </p:sp>
      <p:sp>
        <p:nvSpPr>
          <p:cNvPr id="20" name="trace-dot-3">
            <a:extLst xmlns:a="http://schemas.openxmlformats.org/drawingml/2006/main">
              <a:ext uri="{FF2B5EF4-FFF2-40B4-BE49-F238E27FC236}">
                <a16:creationId xmlns:a16="http://schemas.microsoft.com/office/drawing/2014/main" id="{32E590B8-D6AD-481C-8C4F-D1C40ECD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ace-label-3">
            <a:extLst xmlns:a="http://schemas.openxmlformats.org/drawingml/2006/main">
              <a:ext uri="{FF2B5EF4-FFF2-40B4-BE49-F238E27FC236}">
                <a16:creationId xmlns:a16="http://schemas.microsoft.com/office/drawing/2014/main" id="{0D3748A0-E99B-43EE-9B85-9ADF2DE5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VERIFY</a:t>
            </a:r>
          </a:p>
        </p:txBody>
      </p:sp>
      <p:sp>
        <p:nvSpPr>
          <p:cNvPr id="22" name="trace-title-3">
            <a:extLst xmlns:a="http://schemas.openxmlformats.org/drawingml/2006/main">
              <a:ext uri="{FF2B5EF4-FFF2-40B4-BE49-F238E27FC236}">
                <a16:creationId xmlns:a16="http://schemas.microsoft.com/office/drawing/2014/main" id="{378DF9E7-1C84-495B-A53F-D0FD5B3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渲染与验收</a:t>
            </a:r>
          </a:p>
        </p:txBody>
      </p:sp>
      <p:sp>
        <p:nvSpPr>
          <p:cNvPr id="23" name="trace-zh-3">
            <a:extLst xmlns:a="http://schemas.openxmlformats.org/drawingml/2006/main">
              <a:ext uri="{FF2B5EF4-FFF2-40B4-BE49-F238E27FC236}">
                <a16:creationId xmlns:a16="http://schemas.microsoft.com/office/drawing/2014/main" id="{9B6A2D3B-147E-489E-9E96-4D248ED3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逐页检查
+ 修复再渲染</a:t>
            </a:r>
          </a:p>
        </p:txBody>
      </p:sp>
      <p:sp>
        <p:nvSpPr>
          <p:cNvPr id="24" name="trace-en-3">
            <a:extLst xmlns:a="http://schemas.openxmlformats.org/drawingml/2006/main">
              <a:ext uri="{FF2B5EF4-FFF2-40B4-BE49-F238E27FC236}">
                <a16:creationId xmlns:a16="http://schemas.microsoft.com/office/drawing/2014/main" id="{38649CA7-1A50-4138-B451-9A134775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1485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Slide-by-slide review
+ fix and re-render</a:t>
            </a:r>
          </a:p>
        </p:txBody>
      </p:sp>
    </p:spTree>
    <p:extLst>
      <p:ext uri="{BB962C8B-B14F-4D97-AF65-F5344CB8AC3E}">
        <p14:creationId xmlns:p14="http://schemas.microsoft.com/office/powerpoint/2010/main" val="1986834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8C36BB2F-0F92-4D67-B670-DB4DA9C5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PPT Craft</a:t>
            </a:r>
          </a:p>
        </p:txBody>
      </p:sp>
      <p:sp>
        <p:nvSpPr>
          <p:cNvPr id="2" name="closing-title-zh">
            <a:extLst xmlns:a="http://schemas.openxmlformats.org/drawingml/2006/main">
              <a:ext uri="{FF2B5EF4-FFF2-40B4-BE49-F238E27FC236}">
                <a16:creationId xmlns:a16="http://schemas.microsoft.com/office/drawing/2014/main" id="{316D3EBF-1BF1-4D0C-9BCB-ECBA25C0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9715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每一步可追溯，
成品才可交付</a:t>
            </a:r>
          </a:p>
        </p:txBody>
      </p:sp>
      <p:sp>
        <p:nvSpPr>
          <p:cNvPr id="3" name="closing-title-en">
            <a:extLst xmlns:a="http://schemas.openxmlformats.org/drawingml/2006/main">
              <a:ext uri="{FF2B5EF4-FFF2-40B4-BE49-F238E27FC236}">
                <a16:creationId xmlns:a16="http://schemas.microsoft.com/office/drawing/2014/main" id="{8CE78DB3-3262-498C-99D7-99210CA9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9715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 every step.
Deliver a file you can trust.</a:t>
            </a:r>
          </a:p>
        </p:txBody>
      </p:sp>
      <p:sp>
        <p:nvSpPr>
          <p:cNvPr id="4" name="closing-deliver-zh">
            <a:extLst xmlns:a="http://schemas.openxmlformats.org/drawingml/2006/main">
              <a:ext uri="{FF2B5EF4-FFF2-40B4-BE49-F238E27FC236}">
                <a16:creationId xmlns:a16="http://schemas.microsoft.com/office/drawing/2014/main" id="{8A25CF9E-6ABA-4D67-B407-9FAEAB6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可编辑 PPTX · 双语内容 · 来源记录 · 渲染检查</a:t>
            </a:r>
          </a:p>
        </p:txBody>
      </p:sp>
      <p:sp>
        <p:nvSpPr>
          <p:cNvPr id="5" name="closing-deliver-en">
            <a:extLst xmlns:a="http://schemas.openxmlformats.org/drawingml/2006/main">
              <a:ext uri="{FF2B5EF4-FFF2-40B4-BE49-F238E27FC236}">
                <a16:creationId xmlns:a16="http://schemas.microsoft.com/office/drawing/2014/main" id="{F4428F51-BEF9-47CF-9B3F-A366444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t>Editable PPTX · Bilingual copy · Source trail · Rendered QA</a:t>
            </a:r>
          </a:p>
        </p:txBody>
      </p:sp>
      <p:sp>
        <p:nvSpPr>
          <p:cNvPr id="6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8035679E-63BA-40B7-B8C8-A931BBD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7" name="github-link">
            <a:extLst xmlns:a="http://schemas.openxmlformats.org/drawingml/2006/main">
              <a:ext uri="{FF2B5EF4-FFF2-40B4-BE49-F238E27FC236}">
                <a16:creationId xmlns:a16="http://schemas.microsoft.com/office/drawing/2014/main" id="{5DE6B138-25A3-40CC-A136-DBC30559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43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3D8D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3b2cdff13d4358"/>
              </a:rPr>
              <a:t>github.com/wenkai20070617-cell/ppt-craft</a:t>
            </a:r>
          </a:p>
        </p:txBody>
      </p:sp>
    </p:spTree>
    <p:extLst>
      <p:ext uri="{BB962C8B-B14F-4D97-AF65-F5344CB8AC3E}">
        <p14:creationId xmlns:p14="http://schemas.microsoft.com/office/powerpoint/2010/main" val="187340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2026-07-20T08:37:22.3670000Z</dcterms:created>
  <dcterms:modified xsi:type="dcterms:W3CDTF">2026-07-20T08:37:22.3670000Z</dcterms:modified>
</coreProperties>
</file>